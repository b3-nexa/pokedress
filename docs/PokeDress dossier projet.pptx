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Public Sans" pitchFamily="34" charset="0"/>
      <p:regular r:id="rId26"/>
      <p:bold r:id="rId27"/>
      <p:italic r:id="rId28"/>
      <p:boldItalic r:id="rId29"/>
    </p:embeddedFont>
    <p:embeddedFont>
      <p:font typeface="Oswald" pitchFamily="34" charset="0"/>
      <p:regular r:id="rId30"/>
      <p:bold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Dylan et Morgan. Nous vous présentons PokeDress, l’inventaire du foyer.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je vous demandais, là, maintenant, la liste de tout ce que vous avez chez vous : vos meubles, votre électroménager, votre high-tech, vos outils, votre déco, vos vêtements… vous pourriez la faire ? Personne ne le peut. Et ça coûte : quand deux personnes emménagent ensemble, plus de la moitié se retrouvent avec des objets en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ne sait pas ce qu’on possède. Alors on rachète la rallonge, la perceuse ou le grille-pain qu’on avait déjà. On oublie ce qu’on pourrait revendre : 86 % des foyers gardent des objets dont ils ne se servent plus. Et le jour où la télé tombe en panne ou où l’on est cambriolé, on ne retrouve ni la facture, ni la garantie, ni la preuve qu’on possédait l’objet.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 solutions existent : le tableur Excel, les applis d’inventaire, les applis de dressing. Tout le monde les abandonne, pour la même raison : la saisie est trop longue.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Tout ce que vous possédez, inventorié en quelques photos et enfin visible en un coup d’œil. » Notre pari, c’est la vitesse : moins de 10 secondes par objet. Trois champs, une photo facultative, et l’ajout enchaîné garde la pièce et la catégorie d’un objet à l’autre. Notre cible : les jeunes actifs qui viennent d’emménager, le seul moment où l’on manipule tous ses objets un par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Discovery repose sur une recherche documentaire : ADEME, INSEE, OpinionWay, Re_Fashion, avis sur les applis concurrentes. Le constat le plus fort : on possède deux fois plus de vêtements qu’on ne le pense. Et toutes les sources pointent la même cause d’abandon : la saisie. Limite : nous n’avons pas encore mené d’entretiens, le guide est prêt.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Discovery a entraîné six décisions. Les deux plus structurantes : le mur des 100 objets comme déclencheur du premium, et le partage gratuit jusqu’à deux membres, parce que notre persona principale vit à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trois personas sont des archétypes construits à partir de la recherche. Léa est la persona principale : chaque arbitrage se fait d’abord pour elle. Marc montre qu’un inventaire partagé ne vaut que si le deuxième membre contribue, donc la saisie doit être ultra rapide pour lui. Sarah montre que le dressing concentre le volume d’objets.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six user stories couvrent tout le MVP. Les trois premières sont le cœur : ajouter vite, voir tout, éviter les doublons. Chacune a des critères d’acceptation testables, qui sont devenus nos tests automatisés.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haut, les sept étapes du parcours de l’utilisateur. En dessous, les releases. Tout le MVP est livré et testé. La release 2 finit le MVP, la release 3 apporte le premium, la release 4 les partenariats. Le paiement est déjà simulé dans l’app ; le paiement réel arrive en release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différenciation est une fonctionnalité proportionnelle : la vitesse de saisie, où chaque seconde gagnée compte. Les fonctionnalités rejetées sont exactement les erreurs de nos concurrents, que nous avons écartées. Ce classement est une hypothèse, à valider par un vrai questionnaire Kano.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MoSCoW, tout ce qui est « Must » est livré. Parmi les « Should », il ne manque que la modification d’un objet. Les « Won’t » ne sont pas abandonnés : ils sont prévus dans les releases 3 et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contrainte a une conséquence concrète dans le produit. La plus forte reste les 10 secondes : elle explique les trois champs et l’ajout enchaîné. Côté RGPD, la liste de vos biens révèle votre patrimoine : les données sont isolées par foyer, et les CGU et CGV sont rédigées.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choisi une application web responsive plutôt que React Native : une seule base de code, et l’appareil photo est accessible depuis le navigateur. Une API Node et TypeScript maison plutôt que Supabase ou Firebase, pour maîtriser nos règles métier. MongoDB pour la souplesse des champs facultatifs. Et l’IA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MVP est vérifié par 32 tests d’API et 35 parcours end to end au format mobile. Ces tests nous ont fait trouver trois vrais bugs, dont une faille de sécurité qui permettait de lire les données d’un autre foyer. Tous sont corrigés.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 gratuit jusqu’à 100 objets et deux membres. Le mur des 100 objets est notre déclencheur du premium. Notre levier, ce sont les assureurs habitation : en cas de cambriolage, c’est à l’assuré de prouver ce qu’il possédait, et les applis des assureurs n’ont pas d’inventaire.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demandons 115 000 euros sur 12 mois, calculés poste par poste. Le plus gros poste est l’équipe : nous deux à temps plein, avec un salaire modeste. Ensuite l’acquisition, avec un objectif de 10 000 foyers inscrits. Ce sont des hypothèses de cadrage, à confirmer par des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financement mêle trois sources : des prêts d’honneur, la Bourse French Tech, et 55 000 euros de business angels contre environ 11 % du capital. Notre partenaire clé, ce sont les assureurs : ils offrent le premium à leurs assurés et paient une licence par foyer. Nous visons un pilote de trois mois. En complément : la seconde main et les déménageurs.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jour où on vous demandera ce que vous possédez, vous ne direz plus « je ne sais pas ». Vous ouvrirez PokeDress.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EAD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4" y="1127683"/>
            <a:ext cx="10566425" cy="502939"/>
          </a:xfrm>
          <a:prstGeom prst="rect">
            <a:avLst/>
          </a:prstGeom>
          <a:noFill/>
          <a:ln/>
        </p:spPr>
        <p:txBody>
          <a:bodyPr wrap="square" lIns="0" tIns="0" rIns="0" bIns="0" rtlCol="0" anchor="t"/>
          <a:lstStyle>
            <a:lvl1pPr algn="l" indent="0" marL="0">
              <a:lnSpc>
                <a:spcPct val="115000"/>
              </a:lnSpc>
              <a:buNone/>
              <a:defRPr lang="en-US" sz="3600" dirty="0">
                <a:solidFill>
                  <a:srgbClr val="1E2A2B"/>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74" y="1935422"/>
            <a:ext cx="10566426" cy="4109778"/>
          </a:xfrm>
          <a:prstGeom prst="rect">
            <a:avLst/>
          </a:prstGeom>
          <a:noFill/>
          <a:ln/>
        </p:spPr>
        <p:txBody>
          <a:bodyPr wrap="square" lIns="0" tIns="0" rIns="0" bIns="0" rtlCol="0" anchor="t"/>
          <a:lstStyle>
            <a:lvl1pPr algn="l" indent="0" marL="0">
              <a:lnSpc>
                <a:spcPct val="140000"/>
              </a:lnSpc>
              <a:buNone/>
              <a:defRPr lang="en-US" sz="1600" dirty="0">
                <a:solidFill>
                  <a:srgbClr val="1E2A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EAD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74" y="1127683"/>
            <a:ext cx="10566425" cy="502939"/>
          </a:xfrm>
          <a:prstGeom prst="rect">
            <a:avLst/>
          </a:prstGeom>
          <a:noFill/>
          <a:ln/>
        </p:spPr>
        <p:txBody>
          <a:bodyPr wrap="square" lIns="0" tIns="0" rIns="0" bIns="0" rtlCol="0" anchor="t"/>
          <a:lstStyle>
            <a:lvl1pPr algn="l" indent="0" marL="0">
              <a:lnSpc>
                <a:spcPct val="115000"/>
              </a:lnSpc>
              <a:buNone/>
              <a:defRPr lang="en-US" sz="3600" dirty="0">
                <a:solidFill>
                  <a:srgbClr val="1E2A2B"/>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74" y="1935422"/>
            <a:ext cx="10566426" cy="4109778"/>
          </a:xfrm>
          <a:prstGeom prst="rect">
            <a:avLst/>
          </a:prstGeom>
          <a:noFill/>
          <a:ln/>
        </p:spPr>
        <p:txBody>
          <a:bodyPr wrap="square" lIns="0" tIns="0" rIns="0" bIns="0" rtlCol="0" anchor="t"/>
          <a:lstStyle>
            <a:lvl1pPr algn="l" indent="0" marL="0">
              <a:lnSpc>
                <a:spcPct val="140000"/>
              </a:lnSpc>
              <a:buNone/>
              <a:defRPr lang="en-US" sz="1600" dirty="0">
                <a:solidFill>
                  <a:srgbClr val="1E2A2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ADB"/>
        </a:solidFill>
      </p:bgPr>
    </p:bg>
    <p:spTree>
      <p:nvGrpSpPr>
        <p:cNvPr id="1" name=""/>
        <p:cNvGrpSpPr/>
        <p:nvPr/>
      </p:nvGrpSpPr>
      <p:grpSpPr>
        <a:xfrm>
          <a:off x="0" y="0"/>
          <a:ext cx="0" cy="0"/>
          <a:chOff x="0" y="0"/>
          <a:chExt cx="0" cy="0"/>
        </a:xfrm>
      </p:grpSpPr>
      <p:sp>
        <p:nvSpPr>
          <p:cNvPr id="2" name="Shape 0"/>
          <p:cNvSpPr/>
          <p:nvPr/>
        </p:nvSpPr>
        <p:spPr>
          <a:xfrm rot="21240000">
            <a:off x="8762955" y="609571"/>
            <a:ext cx="2667000" cy="457200"/>
          </a:xfrm>
          <a:prstGeom prst="rect">
            <a:avLst/>
          </a:prstGeom>
          <a:solidFill>
            <a:srgbClr val="B8461B"/>
          </a:solidFill>
          <a:ln/>
        </p:spPr>
      </p:sp>
      <p:sp>
        <p:nvSpPr>
          <p:cNvPr id="3" name="Text 1"/>
          <p:cNvSpPr/>
          <p:nvPr/>
        </p:nvSpPr>
        <p:spPr>
          <a:xfrm>
            <a:off x="812774" y="812774"/>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INVENTAIRE DU FOYER · DOSSIER PROJET · SOUTENANCE B3</a:t>
            </a:r>
            <a:endParaRPr lang="en-US" sz="1200" dirty="0"/>
          </a:p>
        </p:txBody>
      </p:sp>
      <p:sp>
        <p:nvSpPr>
          <p:cNvPr id="4" name="Text 2"/>
          <p:cNvSpPr/>
          <p:nvPr>
            <p:ph type="title"/>
          </p:nvPr>
        </p:nvSpPr>
        <p:spPr>
          <a:xfrm>
            <a:off x="812774" y="2240364"/>
            <a:ext cx="10883418" cy="1422412"/>
          </a:xfrm>
          <a:prstGeom prst="rect">
            <a:avLst/>
          </a:prstGeom>
          <a:noFill/>
          <a:ln/>
        </p:spPr>
        <p:txBody>
          <a:bodyPr wrap="square" lIns="0" tIns="0" rIns="0" bIns="0" rtlCol="0" anchor="t">
            <a:normAutofit/>
          </a:bodyPr>
          <a:lstStyle/>
          <a:p>
            <a:pPr algn="l" indent="0" marL="0">
              <a:lnSpc>
                <a:spcPts val="11000"/>
              </a:lnSpc>
              <a:buNone/>
            </a:pPr>
            <a:r>
              <a:rPr lang="en-US" sz="11000" b="1" i="0" spc="200" kern="0" dirty="0">
                <a:solidFill>
                  <a:srgbClr val="1E2A2B"/>
                </a:solidFill>
                <a:latin typeface="Oswald" pitchFamily="34" charset="0"/>
                <a:ea typeface="Oswald" pitchFamily="34" charset="-122"/>
                <a:cs typeface="Oswald" pitchFamily="34" charset="-120"/>
              </a:rPr>
              <a:t>POKEDRESS</a:t>
            </a:r>
            <a:endParaRPr lang="en-US" sz="11000" dirty="0"/>
          </a:p>
        </p:txBody>
      </p:sp>
      <p:sp>
        <p:nvSpPr>
          <p:cNvPr id="5" name="Text 3"/>
          <p:cNvSpPr/>
          <p:nvPr/>
        </p:nvSpPr>
        <p:spPr>
          <a:xfrm>
            <a:off x="812774" y="3891345"/>
            <a:ext cx="8502628" cy="75173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E2A2B"/>
                </a:solidFill>
                <a:latin typeface="Public Sans" pitchFamily="34" charset="0"/>
                <a:ea typeface="Public Sans" pitchFamily="34" charset="-122"/>
                <a:cs typeface="Public Sans" pitchFamily="34" charset="-120"/>
              </a:rPr>
              <a:t>« Tout ce que vous possédez, inventorié en quelques photos et enfin visible en un coup d’œil. »</a:t>
            </a:r>
            <a:endParaRPr lang="en-US" sz="2200" dirty="0"/>
          </a:p>
        </p:txBody>
      </p:sp>
      <p:sp>
        <p:nvSpPr>
          <p:cNvPr id="6" name="Text 4"/>
          <p:cNvSpPr/>
          <p:nvPr/>
        </p:nvSpPr>
        <p:spPr>
          <a:xfrm>
            <a:off x="812774" y="5831873"/>
            <a:ext cx="10883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Public Sans" pitchFamily="34" charset="0"/>
                <a:ea typeface="Public Sans" pitchFamily="34" charset="-122"/>
                <a:cs typeface="Public Sans" pitchFamily="34" charset="-120"/>
              </a:rPr>
              <a:t>Dylan Fernandes · Morgan Bourre — Bachelor Chef de Projet Web &amp; Digital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2B"/>
        </a:solidFill>
      </p:bgPr>
    </p:bg>
    <p:spTree>
      <p:nvGrpSpPr>
        <p:cNvPr id="1" name=""/>
        <p:cNvGrpSpPr/>
        <p:nvPr/>
      </p:nvGrpSpPr>
      <p:grpSpPr>
        <a:xfrm>
          <a:off x="0" y="0"/>
          <a:ext cx="0" cy="0"/>
          <a:chOff x="0" y="0"/>
          <a:chExt cx="0" cy="0"/>
        </a:xfrm>
      </p:grpSpPr>
      <p:sp>
        <p:nvSpPr>
          <p:cNvPr id="2" name="Text 0"/>
          <p:cNvSpPr/>
          <p:nvPr>
            <p:ph type="title"/>
          </p:nvPr>
        </p:nvSpPr>
        <p:spPr>
          <a:xfrm>
            <a:off x="812774" y="812774"/>
            <a:ext cx="9810719" cy="1366474"/>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2EADB"/>
                </a:solidFill>
                <a:latin typeface="Oswald" pitchFamily="34" charset="0"/>
                <a:ea typeface="Oswald" pitchFamily="34" charset="-122"/>
                <a:cs typeface="Oswald" pitchFamily="34" charset="-120"/>
              </a:rPr>
              <a:t>Pourriez-vous faire la liste de tout ce que vous avez chez vous ?</a:t>
            </a:r>
            <a:endParaRPr lang="en-US" sz="4800" dirty="0"/>
          </a:p>
        </p:txBody>
      </p:sp>
      <p:sp>
        <p:nvSpPr>
          <p:cNvPr id="3" name="Text 1"/>
          <p:cNvSpPr/>
          <p:nvPr/>
        </p:nvSpPr>
        <p:spPr>
          <a:xfrm>
            <a:off x="812774" y="3391015"/>
            <a:ext cx="1225936"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Meubles</a:t>
            </a:r>
            <a:endParaRPr lang="en-US" sz="1600" dirty="0"/>
          </a:p>
        </p:txBody>
      </p:sp>
      <p:sp>
        <p:nvSpPr>
          <p:cNvPr id="4" name="Text 2"/>
          <p:cNvSpPr/>
          <p:nvPr/>
        </p:nvSpPr>
        <p:spPr>
          <a:xfrm>
            <a:off x="2165659" y="3391015"/>
            <a:ext cx="1942629"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Électroménager</a:t>
            </a:r>
            <a:endParaRPr lang="en-US" sz="1600" dirty="0"/>
          </a:p>
        </p:txBody>
      </p:sp>
      <p:sp>
        <p:nvSpPr>
          <p:cNvPr id="5" name="Text 3"/>
          <p:cNvSpPr/>
          <p:nvPr/>
        </p:nvSpPr>
        <p:spPr>
          <a:xfrm>
            <a:off x="4235236" y="3391015"/>
            <a:ext cx="1359623"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High-tech</a:t>
            </a:r>
            <a:endParaRPr lang="en-US" sz="1600" dirty="0"/>
          </a:p>
        </p:txBody>
      </p:sp>
      <p:sp>
        <p:nvSpPr>
          <p:cNvPr id="6" name="Text 4"/>
          <p:cNvSpPr/>
          <p:nvPr/>
        </p:nvSpPr>
        <p:spPr>
          <a:xfrm>
            <a:off x="5721808" y="3391015"/>
            <a:ext cx="980589"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Outils</a:t>
            </a:r>
            <a:endParaRPr lang="en-US" sz="1600" dirty="0"/>
          </a:p>
        </p:txBody>
      </p:sp>
      <p:sp>
        <p:nvSpPr>
          <p:cNvPr id="7" name="Text 5"/>
          <p:cNvSpPr/>
          <p:nvPr/>
        </p:nvSpPr>
        <p:spPr>
          <a:xfrm>
            <a:off x="6829345" y="3391015"/>
            <a:ext cx="1265064"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Vaisselle</a:t>
            </a:r>
            <a:endParaRPr lang="en-US" sz="1600" dirty="0"/>
          </a:p>
        </p:txBody>
      </p:sp>
      <p:sp>
        <p:nvSpPr>
          <p:cNvPr id="8" name="Text 6"/>
          <p:cNvSpPr/>
          <p:nvPr/>
        </p:nvSpPr>
        <p:spPr>
          <a:xfrm>
            <a:off x="8221358" y="3391015"/>
            <a:ext cx="892769"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Déco</a:t>
            </a:r>
            <a:endParaRPr lang="en-US" sz="1600" dirty="0"/>
          </a:p>
        </p:txBody>
      </p:sp>
      <p:sp>
        <p:nvSpPr>
          <p:cNvPr id="9" name="Text 7"/>
          <p:cNvSpPr/>
          <p:nvPr/>
        </p:nvSpPr>
        <p:spPr>
          <a:xfrm>
            <a:off x="9241075" y="3391015"/>
            <a:ext cx="1440487" cy="487577"/>
          </a:xfrm>
          <a:prstGeom prst="roundRect">
            <a:avLst>
              <a:gd name="adj" fmla="val 50000"/>
            </a:avLst>
          </a:prstGeom>
          <a:solidFill>
            <a:srgbClr val="2C3B3C"/>
          </a:solidFill>
          <a:ln/>
        </p:spPr>
        <p:txBody>
          <a:bodyPr wrap="none" lIns="0" tIns="0" rIns="0" bIns="0" rtlCol="0" anchor="ctr">
            <a:normAutofit/>
          </a:bodyPr>
          <a:lstStyle/>
          <a:p>
            <a:pPr algn="ctr" indent="0" marL="0">
              <a:lnSpc>
                <a:spcPts val="2240"/>
              </a:lnSpc>
              <a:buNone/>
            </a:pPr>
            <a:r>
              <a:rPr lang="en-US" sz="1600" b="1" dirty="0">
                <a:solidFill>
                  <a:srgbClr val="F2EADB"/>
                </a:solidFill>
                <a:latin typeface="Public Sans" pitchFamily="34" charset="0"/>
                <a:ea typeface="Public Sans" pitchFamily="34" charset="-122"/>
                <a:cs typeface="Public Sans" pitchFamily="34" charset="-120"/>
              </a:rPr>
              <a:t>Vêtements</a:t>
            </a:r>
            <a:endParaRPr lang="en-US" sz="1600" dirty="0"/>
          </a:p>
        </p:txBody>
      </p:sp>
      <p:sp>
        <p:nvSpPr>
          <p:cNvPr id="10" name="Text 8"/>
          <p:cNvSpPr/>
          <p:nvPr/>
        </p:nvSpPr>
        <p:spPr>
          <a:xfrm>
            <a:off x="812774" y="5115687"/>
            <a:ext cx="10883418" cy="75173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2EADB"/>
                </a:solidFill>
                <a:latin typeface="Public Sans" pitchFamily="34" charset="0"/>
                <a:ea typeface="Public Sans" pitchFamily="34" charset="-122"/>
                <a:cs typeface="Public Sans" pitchFamily="34" charset="-120"/>
              </a:rPr>
              <a:t>Personne ne le peut. Quand on emménage à deux, </a:t>
            </a:r>
            <a:r>
              <a:rPr lang="en-US" sz="2200" dirty="0">
                <a:solidFill>
                  <a:srgbClr val="E8894F"/>
                </a:solidFill>
                <a:latin typeface="Public Sans" pitchFamily="34" charset="0"/>
                <a:ea typeface="Public Sans" pitchFamily="34" charset="-122"/>
                <a:cs typeface="Public Sans" pitchFamily="34" charset="-120"/>
              </a:rPr>
              <a:t>plus de la moitié</a:t>
            </a:r>
            <a:r>
              <a:rPr lang="en-US" sz="2200" dirty="0">
                <a:solidFill>
                  <a:srgbClr val="F2EADB"/>
                </a:solidFill>
                <a:latin typeface="Public Sans" pitchFamily="34" charset="0"/>
                <a:ea typeface="Public Sans" pitchFamily="34" charset="-122"/>
                <a:cs typeface="Public Sans" pitchFamily="34" charset="-120"/>
              </a:rPr>
              <a:t> se retrouvent avec des objets en double : électronique, électroménager, meubles.</a:t>
            </a:r>
            <a:endParaRPr lang="en-US" sz="2200" dirty="0"/>
          </a:p>
        </p:txBody>
      </p:sp>
      <p:sp>
        <p:nvSpPr>
          <p:cNvPr id="11" name="Text 9"/>
          <p:cNvSpPr/>
          <p:nvPr/>
        </p:nvSpPr>
        <p:spPr>
          <a:xfrm>
            <a:off x="812774" y="6238296"/>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B5"/>
                </a:solidFill>
                <a:latin typeface="Public Sans" pitchFamily="34" charset="0"/>
                <a:ea typeface="Public Sans" pitchFamily="34" charset="-122"/>
                <a:cs typeface="Public Sans" pitchFamily="34" charset="-120"/>
              </a:rPr>
              <a:t>Source : sondage Kijiji, États-Unis, 2010 (54 % déclarent jusqu’à 10 objets en double)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4"/>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LE PROBLÈME</a:t>
            </a:r>
            <a:endParaRPr lang="en-US" sz="1200" dirty="0"/>
          </a:p>
        </p:txBody>
      </p:sp>
      <p:sp>
        <p:nvSpPr>
          <p:cNvPr id="3" name="Text 1"/>
          <p:cNvSpPr/>
          <p:nvPr>
            <p:ph type="title"/>
          </p:nvPr>
        </p:nvSpPr>
        <p:spPr>
          <a:xfrm>
            <a:off x="812774" y="1127682"/>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On ne sait pas ce qu’on possède</a:t>
            </a:r>
            <a:endParaRPr lang="en-US" sz="3600" dirty="0"/>
          </a:p>
        </p:txBody>
      </p:sp>
      <p:sp>
        <p:nvSpPr>
          <p:cNvPr id="4" name="Shape 2"/>
          <p:cNvSpPr/>
          <p:nvPr/>
        </p:nvSpPr>
        <p:spPr>
          <a:xfrm>
            <a:off x="819124" y="3518734"/>
            <a:ext cx="3373967" cy="2316933"/>
          </a:xfrm>
          <a:prstGeom prst="roundRect">
            <a:avLst>
              <a:gd name="adj" fmla="val 4111"/>
            </a:avLst>
          </a:prstGeom>
          <a:solidFill>
            <a:srgbClr val="FBF6EE"/>
          </a:solidFill>
          <a:ln w="12700">
            <a:solidFill>
              <a:srgbClr val="D8CCB6"/>
            </a:solidFill>
            <a:prstDash val="solid"/>
          </a:ln>
        </p:spPr>
      </p:sp>
      <p:sp>
        <p:nvSpPr>
          <p:cNvPr id="5" name="Text 3"/>
          <p:cNvSpPr/>
          <p:nvPr/>
        </p:nvSpPr>
        <p:spPr>
          <a:xfrm>
            <a:off x="1126812" y="3826422"/>
            <a:ext cx="2841349"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61B"/>
                </a:solidFill>
                <a:latin typeface="Oswald" pitchFamily="34" charset="0"/>
                <a:ea typeface="Oswald" pitchFamily="34" charset="-122"/>
                <a:cs typeface="Oswald" pitchFamily="34" charset="-120"/>
              </a:rPr>
              <a:t>×2</a:t>
            </a:r>
            <a:endParaRPr lang="en-US" sz="3600" dirty="0"/>
          </a:p>
        </p:txBody>
      </p:sp>
      <p:sp>
        <p:nvSpPr>
          <p:cNvPr id="6" name="Text 4"/>
          <p:cNvSpPr/>
          <p:nvPr/>
        </p:nvSpPr>
        <p:spPr>
          <a:xfrm>
            <a:off x="1126812" y="4410587"/>
            <a:ext cx="2841349"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2B"/>
                </a:solidFill>
                <a:latin typeface="Public Sans" pitchFamily="34" charset="0"/>
                <a:ea typeface="Public Sans" pitchFamily="34" charset="-122"/>
                <a:cs typeface="Public Sans" pitchFamily="34" charset="-120"/>
              </a:rPr>
              <a:t>On rachète ce qu’on a déjà</a:t>
            </a:r>
            <a:endParaRPr lang="en-US" sz="1600" dirty="0"/>
          </a:p>
        </p:txBody>
      </p:sp>
      <p:sp>
        <p:nvSpPr>
          <p:cNvPr id="7" name="Text 5"/>
          <p:cNvSpPr/>
          <p:nvPr/>
        </p:nvSpPr>
        <p:spPr>
          <a:xfrm>
            <a:off x="1126812" y="4781288"/>
            <a:ext cx="2841349"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2"/>
                </a:solidFill>
                <a:latin typeface="Public Sans" pitchFamily="34" charset="0"/>
                <a:ea typeface="Public Sans" pitchFamily="34" charset="-122"/>
                <a:cs typeface="Public Sans" pitchFamily="34" charset="-120"/>
              </a:rPr>
              <a:t>La rallonge, la perceuse, le grille-pain… qui dormaient dans un carton.</a:t>
            </a:r>
            <a:endParaRPr lang="en-US" sz="1400" dirty="0"/>
          </a:p>
        </p:txBody>
      </p:sp>
      <p:sp>
        <p:nvSpPr>
          <p:cNvPr id="8" name="Shape 6"/>
          <p:cNvSpPr/>
          <p:nvPr/>
        </p:nvSpPr>
        <p:spPr>
          <a:xfrm>
            <a:off x="4408967" y="3518734"/>
            <a:ext cx="3374040" cy="2316933"/>
          </a:xfrm>
          <a:prstGeom prst="roundRect">
            <a:avLst>
              <a:gd name="adj" fmla="val 4111"/>
            </a:avLst>
          </a:prstGeom>
          <a:solidFill>
            <a:srgbClr val="FBF6EE"/>
          </a:solidFill>
          <a:ln w="12700">
            <a:solidFill>
              <a:srgbClr val="D8CCB6"/>
            </a:solidFill>
            <a:prstDash val="solid"/>
          </a:ln>
        </p:spPr>
      </p:sp>
      <p:sp>
        <p:nvSpPr>
          <p:cNvPr id="9" name="Text 7"/>
          <p:cNvSpPr/>
          <p:nvPr/>
        </p:nvSpPr>
        <p:spPr>
          <a:xfrm>
            <a:off x="4716654" y="3826422"/>
            <a:ext cx="2841424"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61B"/>
                </a:solidFill>
                <a:latin typeface="Oswald" pitchFamily="34" charset="0"/>
                <a:ea typeface="Oswald" pitchFamily="34" charset="-122"/>
                <a:cs typeface="Oswald" pitchFamily="34" charset="-120"/>
              </a:rPr>
              <a:t>86 %</a:t>
            </a:r>
            <a:endParaRPr lang="en-US" sz="3600" dirty="0"/>
          </a:p>
        </p:txBody>
      </p:sp>
      <p:sp>
        <p:nvSpPr>
          <p:cNvPr id="10" name="Text 8"/>
          <p:cNvSpPr/>
          <p:nvPr/>
        </p:nvSpPr>
        <p:spPr>
          <a:xfrm>
            <a:off x="4716654" y="4410587"/>
            <a:ext cx="2841424"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2B"/>
                </a:solidFill>
                <a:latin typeface="Public Sans" pitchFamily="34" charset="0"/>
                <a:ea typeface="Public Sans" pitchFamily="34" charset="-122"/>
                <a:cs typeface="Public Sans" pitchFamily="34" charset="-120"/>
              </a:rPr>
              <a:t>De la valeur qui dort</a:t>
            </a:r>
            <a:endParaRPr lang="en-US" sz="1600" dirty="0"/>
          </a:p>
        </p:txBody>
      </p:sp>
      <p:sp>
        <p:nvSpPr>
          <p:cNvPr id="11" name="Text 9"/>
          <p:cNvSpPr/>
          <p:nvPr/>
        </p:nvSpPr>
        <p:spPr>
          <a:xfrm>
            <a:off x="4716654" y="4781288"/>
            <a:ext cx="2841424"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2"/>
                </a:solidFill>
                <a:latin typeface="Public Sans" pitchFamily="34" charset="0"/>
                <a:ea typeface="Public Sans" pitchFamily="34" charset="-122"/>
                <a:cs typeface="Public Sans" pitchFamily="34" charset="-120"/>
              </a:rPr>
              <a:t>des foyers gardent des objets inutilisés : environ 19 objets, environ 320 €.</a:t>
            </a:r>
            <a:endParaRPr lang="en-US" sz="1400" dirty="0"/>
          </a:p>
        </p:txBody>
      </p:sp>
      <p:sp>
        <p:nvSpPr>
          <p:cNvPr id="12" name="Shape 10"/>
          <p:cNvSpPr/>
          <p:nvPr/>
        </p:nvSpPr>
        <p:spPr>
          <a:xfrm>
            <a:off x="7998882" y="3518734"/>
            <a:ext cx="3373967" cy="2316933"/>
          </a:xfrm>
          <a:prstGeom prst="roundRect">
            <a:avLst>
              <a:gd name="adj" fmla="val 4111"/>
            </a:avLst>
          </a:prstGeom>
          <a:solidFill>
            <a:srgbClr val="FBF6EE"/>
          </a:solidFill>
          <a:ln w="12700">
            <a:solidFill>
              <a:srgbClr val="D8CCB6"/>
            </a:solidFill>
            <a:prstDash val="solid"/>
          </a:ln>
        </p:spPr>
      </p:sp>
      <p:sp>
        <p:nvSpPr>
          <p:cNvPr id="13" name="Text 11"/>
          <p:cNvSpPr/>
          <p:nvPr/>
        </p:nvSpPr>
        <p:spPr>
          <a:xfrm>
            <a:off x="8306570" y="3826422"/>
            <a:ext cx="2841349" cy="482617"/>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8461B"/>
                </a:solidFill>
                <a:latin typeface="Oswald" pitchFamily="34" charset="0"/>
                <a:ea typeface="Oswald" pitchFamily="34" charset="-122"/>
                <a:cs typeface="Oswald" pitchFamily="34" charset="-120"/>
              </a:rPr>
              <a:t>218 000</a:t>
            </a:r>
            <a:endParaRPr lang="en-US" sz="3600" dirty="0"/>
          </a:p>
        </p:txBody>
      </p:sp>
      <p:sp>
        <p:nvSpPr>
          <p:cNvPr id="14" name="Text 12"/>
          <p:cNvSpPr/>
          <p:nvPr/>
        </p:nvSpPr>
        <p:spPr>
          <a:xfrm>
            <a:off x="8306570" y="4410587"/>
            <a:ext cx="2841349"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A2B"/>
                </a:solidFill>
                <a:latin typeface="Public Sans" pitchFamily="34" charset="0"/>
                <a:ea typeface="Public Sans" pitchFamily="34" charset="-122"/>
                <a:cs typeface="Public Sans" pitchFamily="34" charset="-120"/>
              </a:rPr>
              <a:t>Aucune preuve le jour J</a:t>
            </a:r>
            <a:endParaRPr lang="en-US" sz="1600" dirty="0"/>
          </a:p>
        </p:txBody>
      </p:sp>
      <p:sp>
        <p:nvSpPr>
          <p:cNvPr id="15" name="Text 13"/>
          <p:cNvSpPr/>
          <p:nvPr/>
        </p:nvSpPr>
        <p:spPr>
          <a:xfrm>
            <a:off x="8306570" y="4781288"/>
            <a:ext cx="2841349"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2"/>
                </a:solidFill>
                <a:latin typeface="Public Sans" pitchFamily="34" charset="0"/>
                <a:ea typeface="Public Sans" pitchFamily="34" charset="-122"/>
                <a:cs typeface="Public Sans" pitchFamily="34" charset="-120"/>
              </a:rPr>
              <a:t>cambriolages en 2024. Facture, garantie, preuve d’achat : introuvables.</a:t>
            </a:r>
            <a:endParaRPr lang="en-US" sz="1400" dirty="0"/>
          </a:p>
        </p:txBody>
      </p:sp>
      <p:sp>
        <p:nvSpPr>
          <p:cNvPr id="16" name="Text 14"/>
          <p:cNvSpPr/>
          <p:nvPr/>
        </p:nvSpPr>
        <p:spPr>
          <a:xfrm>
            <a:off x="812774" y="6238297"/>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Sources : OpinionWay pour Leboncoin (2025) · SSMSI (2024)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2507086"/>
            <a:ext cx="512772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CE QUI EXISTE DÉJÀ</a:t>
            </a:r>
            <a:endParaRPr lang="en-US" sz="1200" dirty="0"/>
          </a:p>
        </p:txBody>
      </p:sp>
      <p:sp>
        <p:nvSpPr>
          <p:cNvPr id="3" name="Text 1"/>
          <p:cNvSpPr/>
          <p:nvPr/>
        </p:nvSpPr>
        <p:spPr>
          <a:xfrm>
            <a:off x="812774" y="2923580"/>
            <a:ext cx="5127728" cy="416534"/>
          </a:xfrm>
          <a:prstGeom prst="rect">
            <a:avLst/>
          </a:prstGeom>
          <a:noFill/>
          <a:ln/>
        </p:spPr>
        <p:txBody>
          <a:bodyPr wrap="square" lIns="0" tIns="0" rIns="0" bIns="0" rtlCol="0" anchor="t">
            <a:normAutofit/>
          </a:bodyPr>
          <a:lstStyle/>
          <a:p>
            <a:pPr algn="l" indent="0" marL="0">
              <a:lnSpc>
                <a:spcPts val="3080"/>
              </a:lnSpc>
              <a:buNone/>
            </a:pPr>
            <a:r>
              <a:rPr lang="en-US" sz="2200" strike="sngStrike" dirty="0">
                <a:solidFill>
                  <a:srgbClr val="A9B8B5"/>
                </a:solidFill>
                <a:latin typeface="Public Sans" pitchFamily="34" charset="0"/>
                <a:ea typeface="Public Sans" pitchFamily="34" charset="-122"/>
                <a:cs typeface="Public Sans" pitchFamily="34" charset="-120"/>
              </a:rPr>
              <a:t>Le tableur Excel</a:t>
            </a:r>
            <a:endParaRPr lang="en-US" sz="2200" dirty="0"/>
          </a:p>
        </p:txBody>
      </p:sp>
      <p:sp>
        <p:nvSpPr>
          <p:cNvPr id="4" name="Text 2"/>
          <p:cNvSpPr/>
          <p:nvPr/>
        </p:nvSpPr>
        <p:spPr>
          <a:xfrm>
            <a:off x="812774" y="3441663"/>
            <a:ext cx="5127728" cy="416534"/>
          </a:xfrm>
          <a:prstGeom prst="rect">
            <a:avLst/>
          </a:prstGeom>
          <a:noFill/>
          <a:ln/>
        </p:spPr>
        <p:txBody>
          <a:bodyPr wrap="square" lIns="0" tIns="0" rIns="0" bIns="0" rtlCol="0" anchor="t">
            <a:normAutofit/>
          </a:bodyPr>
          <a:lstStyle/>
          <a:p>
            <a:pPr algn="l" indent="0" marL="0">
              <a:lnSpc>
                <a:spcPts val="3080"/>
              </a:lnSpc>
              <a:buNone/>
            </a:pPr>
            <a:r>
              <a:rPr lang="en-US" sz="2200" strike="sngStrike" dirty="0">
                <a:solidFill>
                  <a:srgbClr val="A9B8B5"/>
                </a:solidFill>
                <a:latin typeface="Public Sans" pitchFamily="34" charset="0"/>
                <a:ea typeface="Public Sans" pitchFamily="34" charset="-122"/>
                <a:cs typeface="Public Sans" pitchFamily="34" charset="-120"/>
              </a:rPr>
              <a:t>Les applis d’inventaire</a:t>
            </a:r>
            <a:endParaRPr lang="en-US" sz="2200" dirty="0"/>
          </a:p>
        </p:txBody>
      </p:sp>
      <p:sp>
        <p:nvSpPr>
          <p:cNvPr id="5" name="Text 3"/>
          <p:cNvSpPr/>
          <p:nvPr/>
        </p:nvSpPr>
        <p:spPr>
          <a:xfrm>
            <a:off x="812774" y="3959746"/>
            <a:ext cx="5127728" cy="416534"/>
          </a:xfrm>
          <a:prstGeom prst="rect">
            <a:avLst/>
          </a:prstGeom>
          <a:noFill/>
          <a:ln/>
        </p:spPr>
        <p:txBody>
          <a:bodyPr wrap="square" lIns="0" tIns="0" rIns="0" bIns="0" rtlCol="0" anchor="t">
            <a:normAutofit/>
          </a:bodyPr>
          <a:lstStyle/>
          <a:p>
            <a:pPr algn="l" indent="0" marL="0">
              <a:lnSpc>
                <a:spcPts val="3080"/>
              </a:lnSpc>
              <a:buNone/>
            </a:pPr>
            <a:r>
              <a:rPr lang="en-US" sz="2200" strike="sngStrike" dirty="0">
                <a:solidFill>
                  <a:srgbClr val="A9B8B5"/>
                </a:solidFill>
                <a:latin typeface="Public Sans" pitchFamily="34" charset="0"/>
                <a:ea typeface="Public Sans" pitchFamily="34" charset="-122"/>
                <a:cs typeface="Public Sans" pitchFamily="34" charset="-120"/>
              </a:rPr>
              <a:t>Les applis de dressing</a:t>
            </a:r>
            <a:endParaRPr lang="en-US" sz="2200" dirty="0"/>
          </a:p>
        </p:txBody>
      </p:sp>
      <p:sp>
        <p:nvSpPr>
          <p:cNvPr id="6" name="Text 4"/>
          <p:cNvSpPr/>
          <p:nvPr>
            <p:ph type="title"/>
          </p:nvPr>
        </p:nvSpPr>
        <p:spPr>
          <a:xfrm>
            <a:off x="6400750" y="2293693"/>
            <a:ext cx="5127803" cy="1366474"/>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2EADB"/>
                </a:solidFill>
                <a:latin typeface="Oswald" pitchFamily="34" charset="0"/>
                <a:ea typeface="Oswald" pitchFamily="34" charset="-122"/>
                <a:cs typeface="Oswald" pitchFamily="34" charset="-120"/>
              </a:rPr>
              <a:t>Tout le monde abandonne.</a:t>
            </a:r>
            <a:endParaRPr lang="en-US" sz="4800" dirty="0"/>
          </a:p>
        </p:txBody>
      </p:sp>
      <p:sp>
        <p:nvSpPr>
          <p:cNvPr id="7" name="Text 5"/>
          <p:cNvSpPr/>
          <p:nvPr/>
        </p:nvSpPr>
        <p:spPr>
          <a:xfrm>
            <a:off x="6400750" y="3837942"/>
            <a:ext cx="5127803" cy="75173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2EADB"/>
                </a:solidFill>
                <a:latin typeface="Public Sans" pitchFamily="34" charset="0"/>
                <a:ea typeface="Public Sans" pitchFamily="34" charset="-122"/>
                <a:cs typeface="Public Sans" pitchFamily="34" charset="-120"/>
              </a:rPr>
              <a:t>Pour la même raison : </a:t>
            </a:r>
            <a:r>
              <a:rPr lang="en-US" sz="2200" dirty="0">
                <a:solidFill>
                  <a:srgbClr val="E8894F"/>
                </a:solidFill>
                <a:latin typeface="Public Sans" pitchFamily="34" charset="0"/>
                <a:ea typeface="Public Sans" pitchFamily="34" charset="-122"/>
                <a:cs typeface="Public Sans" pitchFamily="34" charset="-120"/>
              </a:rPr>
              <a:t>la saisie est trop longue.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B8461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BF6EE"/>
                </a:solidFill>
                <a:latin typeface="Public Sans" pitchFamily="34" charset="0"/>
                <a:ea typeface="Public Sans" pitchFamily="34" charset="-122"/>
                <a:cs typeface="Public Sans" pitchFamily="34" charset="-120"/>
              </a:rPr>
              <a:t>NOTRE VISION · LA PROPOSITION DE VALEUR</a:t>
            </a:r>
            <a:endParaRPr lang="en-US" sz="1200" dirty="0"/>
          </a:p>
        </p:txBody>
      </p:sp>
      <p:sp>
        <p:nvSpPr>
          <p:cNvPr id="3" name="Text 1"/>
          <p:cNvSpPr/>
          <p:nvPr>
            <p:ph type="title"/>
          </p:nvPr>
        </p:nvSpPr>
        <p:spPr>
          <a:xfrm>
            <a:off x="812774" y="2145370"/>
            <a:ext cx="3797247" cy="1593778"/>
          </a:xfrm>
          <a:prstGeom prst="rect">
            <a:avLst/>
          </a:prstGeom>
          <a:noFill/>
          <a:ln/>
        </p:spPr>
        <p:txBody>
          <a:bodyPr wrap="none" lIns="0" tIns="0" rIns="0" bIns="0" rtlCol="0" anchor="t">
            <a:normAutofit/>
          </a:bodyPr>
          <a:lstStyle/>
          <a:p>
            <a:pPr algn="l" indent="0" marL="0">
              <a:lnSpc>
                <a:spcPts val="12350"/>
              </a:lnSpc>
              <a:buNone/>
            </a:pPr>
            <a:r>
              <a:rPr lang="en-US" sz="13000" b="1" i="0" dirty="0">
                <a:solidFill>
                  <a:srgbClr val="FBF6EE"/>
                </a:solidFill>
                <a:latin typeface="Oswald" pitchFamily="34" charset="0"/>
                <a:ea typeface="Oswald" pitchFamily="34" charset="-122"/>
                <a:cs typeface="Oswald" pitchFamily="34" charset="-120"/>
              </a:rPr>
              <a:t>&lt; 10 s</a:t>
            </a:r>
            <a:endParaRPr lang="en-US" sz="13000" dirty="0"/>
          </a:p>
        </p:txBody>
      </p:sp>
      <p:sp>
        <p:nvSpPr>
          <p:cNvPr id="4" name="Text 2"/>
          <p:cNvSpPr/>
          <p:nvPr/>
        </p:nvSpPr>
        <p:spPr>
          <a:xfrm>
            <a:off x="5109021" y="2624252"/>
            <a:ext cx="4970775" cy="1114895"/>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BF6EE"/>
                </a:solidFill>
                <a:latin typeface="Public Sans" pitchFamily="34" charset="0"/>
                <a:ea typeface="Public Sans" pitchFamily="34" charset="-122"/>
                <a:cs typeface="Public Sans" pitchFamily="34" charset="-120"/>
              </a:rPr>
              <a:t>par objet, quel qu’il soit. C’est notre seule différenciation, et c’est là que tout le monde échoue.</a:t>
            </a:r>
            <a:endParaRPr lang="en-US" sz="2200" dirty="0"/>
          </a:p>
        </p:txBody>
      </p:sp>
      <p:sp>
        <p:nvSpPr>
          <p:cNvPr id="5" name="Shape 3"/>
          <p:cNvSpPr/>
          <p:nvPr/>
        </p:nvSpPr>
        <p:spPr>
          <a:xfrm>
            <a:off x="812774" y="4842548"/>
            <a:ext cx="3386667" cy="0"/>
          </a:xfrm>
          <a:prstGeom prst="line">
            <a:avLst/>
          </a:prstGeom>
          <a:noFill/>
          <a:ln w="19050">
            <a:solidFill>
              <a:srgbClr val="FBF6EE"/>
            </a:solidFill>
            <a:prstDash val="solid"/>
          </a:ln>
        </p:spPr>
      </p:sp>
      <p:sp>
        <p:nvSpPr>
          <p:cNvPr id="6" name="Text 4"/>
          <p:cNvSpPr/>
          <p:nvPr/>
        </p:nvSpPr>
        <p:spPr>
          <a:xfrm>
            <a:off x="812774" y="5003955"/>
            <a:ext cx="3488267"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EE"/>
                </a:solidFill>
                <a:latin typeface="Public Sans" pitchFamily="34" charset="0"/>
                <a:ea typeface="Public Sans" pitchFamily="34" charset="-122"/>
                <a:cs typeface="Public Sans" pitchFamily="34" charset="-120"/>
              </a:rPr>
              <a:t>3 champs</a:t>
            </a:r>
            <a:endParaRPr lang="en-US" sz="1600" dirty="0"/>
          </a:p>
        </p:txBody>
      </p:sp>
      <p:sp>
        <p:nvSpPr>
          <p:cNvPr id="7" name="Text 5"/>
          <p:cNvSpPr/>
          <p:nvPr/>
        </p:nvSpPr>
        <p:spPr>
          <a:xfrm>
            <a:off x="812774" y="5298501"/>
            <a:ext cx="3488267"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EE"/>
                </a:solidFill>
                <a:latin typeface="Public Sans" pitchFamily="34" charset="0"/>
                <a:ea typeface="Public Sans" pitchFamily="34" charset="-122"/>
                <a:cs typeface="Public Sans" pitchFamily="34" charset="-120"/>
              </a:rPr>
              <a:t>Nom, pièce, catégorie. Photo facultative, sans détourage.</a:t>
            </a:r>
            <a:endParaRPr lang="en-US" sz="1400" dirty="0"/>
          </a:p>
        </p:txBody>
      </p:sp>
      <p:sp>
        <p:nvSpPr>
          <p:cNvPr id="8" name="Shape 6"/>
          <p:cNvSpPr/>
          <p:nvPr/>
        </p:nvSpPr>
        <p:spPr>
          <a:xfrm>
            <a:off x="4402617" y="4842548"/>
            <a:ext cx="3386667" cy="0"/>
          </a:xfrm>
          <a:prstGeom prst="line">
            <a:avLst/>
          </a:prstGeom>
          <a:noFill/>
          <a:ln w="19050">
            <a:solidFill>
              <a:srgbClr val="FBF6EE"/>
            </a:solidFill>
            <a:prstDash val="solid"/>
          </a:ln>
        </p:spPr>
      </p:sp>
      <p:sp>
        <p:nvSpPr>
          <p:cNvPr id="9" name="Text 7"/>
          <p:cNvSpPr/>
          <p:nvPr/>
        </p:nvSpPr>
        <p:spPr>
          <a:xfrm>
            <a:off x="4402617" y="5003955"/>
            <a:ext cx="3488267"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EE"/>
                </a:solidFill>
                <a:latin typeface="Public Sans" pitchFamily="34" charset="0"/>
                <a:ea typeface="Public Sans" pitchFamily="34" charset="-122"/>
                <a:cs typeface="Public Sans" pitchFamily="34" charset="-120"/>
              </a:rPr>
              <a:t>Ajout enchaîné</a:t>
            </a:r>
            <a:endParaRPr lang="en-US" sz="1600" dirty="0"/>
          </a:p>
        </p:txBody>
      </p:sp>
      <p:sp>
        <p:nvSpPr>
          <p:cNvPr id="10" name="Text 8"/>
          <p:cNvSpPr/>
          <p:nvPr/>
        </p:nvSpPr>
        <p:spPr>
          <a:xfrm>
            <a:off x="4402617" y="5298501"/>
            <a:ext cx="3488267"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EE"/>
                </a:solidFill>
                <a:latin typeface="Public Sans" pitchFamily="34" charset="0"/>
                <a:ea typeface="Public Sans" pitchFamily="34" charset="-122"/>
                <a:cs typeface="Public Sans" pitchFamily="34" charset="-120"/>
              </a:rPr>
              <a:t>La pièce et la catégorie restent : on vide un carton d’un trait.</a:t>
            </a:r>
            <a:endParaRPr lang="en-US" sz="1400" dirty="0"/>
          </a:p>
        </p:txBody>
      </p:sp>
      <p:sp>
        <p:nvSpPr>
          <p:cNvPr id="11" name="Shape 9"/>
          <p:cNvSpPr/>
          <p:nvPr/>
        </p:nvSpPr>
        <p:spPr>
          <a:xfrm>
            <a:off x="7992459" y="4842548"/>
            <a:ext cx="3386667" cy="0"/>
          </a:xfrm>
          <a:prstGeom prst="line">
            <a:avLst/>
          </a:prstGeom>
          <a:noFill/>
          <a:ln w="19050">
            <a:solidFill>
              <a:srgbClr val="FBF6EE"/>
            </a:solidFill>
            <a:prstDash val="solid"/>
          </a:ln>
        </p:spPr>
      </p:sp>
      <p:sp>
        <p:nvSpPr>
          <p:cNvPr id="12" name="Text 10"/>
          <p:cNvSpPr/>
          <p:nvPr/>
        </p:nvSpPr>
        <p:spPr>
          <a:xfrm>
            <a:off x="7992459" y="5003955"/>
            <a:ext cx="3488267" cy="2691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6EE"/>
                </a:solidFill>
                <a:latin typeface="Public Sans" pitchFamily="34" charset="0"/>
                <a:ea typeface="Public Sans" pitchFamily="34" charset="-122"/>
                <a:cs typeface="Public Sans" pitchFamily="34" charset="-120"/>
              </a:rPr>
              <a:t>Pour qui</a:t>
            </a:r>
            <a:endParaRPr lang="en-US" sz="1600" dirty="0"/>
          </a:p>
        </p:txBody>
      </p:sp>
      <p:sp>
        <p:nvSpPr>
          <p:cNvPr id="13" name="Text 11"/>
          <p:cNvSpPr/>
          <p:nvPr/>
        </p:nvSpPr>
        <p:spPr>
          <a:xfrm>
            <a:off x="7992459" y="5298501"/>
            <a:ext cx="3488267"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6EE"/>
                </a:solidFill>
                <a:latin typeface="Public Sans" pitchFamily="34" charset="0"/>
                <a:ea typeface="Public Sans" pitchFamily="34" charset="-122"/>
                <a:cs typeface="Public Sans" pitchFamily="34" charset="-120"/>
              </a:rPr>
              <a:t>Les 25-40 ans qui viennent d’emménager, seuls, en colocation ou à deux.</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PHASE DISCOVERY · RÉSULTATS</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Toutes les sources pointent la même cause : la saisie</a:t>
            </a:r>
            <a:endParaRPr lang="en-US" sz="3600" dirty="0"/>
          </a:p>
        </p:txBody>
      </p:sp>
      <p:sp>
        <p:nvSpPr>
          <p:cNvPr id="4" name="Text 2"/>
          <p:cNvSpPr/>
          <p:nvPr/>
        </p:nvSpPr>
        <p:spPr>
          <a:xfrm>
            <a:off x="812774" y="1935386"/>
            <a:ext cx="1447740" cy="523267"/>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78 → 172</a:t>
            </a:r>
            <a:endParaRPr lang="en-US" sz="2800" dirty="0"/>
          </a:p>
        </p:txBody>
      </p:sp>
      <p:sp>
        <p:nvSpPr>
          <p:cNvPr id="5" name="Text 3"/>
          <p:cNvSpPr/>
          <p:nvPr/>
        </p:nvSpPr>
        <p:spPr>
          <a:xfrm>
            <a:off x="2362095" y="2157980"/>
            <a:ext cx="3636637"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vêtements déclarés, puis réellement comptés : on sous-estime ce qu’on a (ADEME 2025).</a:t>
            </a:r>
            <a:endParaRPr lang="en-US" sz="1400" dirty="0"/>
          </a:p>
        </p:txBody>
      </p:sp>
      <p:sp>
        <p:nvSpPr>
          <p:cNvPr id="6" name="Text 4"/>
          <p:cNvSpPr/>
          <p:nvPr/>
        </p:nvSpPr>
        <p:spPr>
          <a:xfrm>
            <a:off x="6299162" y="1935386"/>
            <a:ext cx="1447740" cy="523267"/>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25-34</a:t>
            </a:r>
            <a:endParaRPr lang="en-US" sz="2800" dirty="0"/>
          </a:p>
        </p:txBody>
      </p:sp>
      <p:sp>
        <p:nvSpPr>
          <p:cNvPr id="7" name="Text 5"/>
          <p:cNvSpPr/>
          <p:nvPr/>
        </p:nvSpPr>
        <p:spPr>
          <a:xfrm>
            <a:off x="7848483" y="2157980"/>
            <a:ext cx="3636637"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ans : la tranche qui déménage le plus. L’emménagement est notre moment (INSEE).</a:t>
            </a:r>
            <a:endParaRPr lang="en-US" sz="1400" dirty="0"/>
          </a:p>
        </p:txBody>
      </p:sp>
      <p:sp>
        <p:nvSpPr>
          <p:cNvPr id="8" name="Text 6"/>
          <p:cNvSpPr/>
          <p:nvPr/>
        </p:nvSpPr>
        <p:spPr>
          <a:xfrm>
            <a:off x="812774" y="3107844"/>
            <a:ext cx="1447740" cy="523267"/>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17 %</a:t>
            </a:r>
            <a:endParaRPr lang="en-US" sz="2800" dirty="0"/>
          </a:p>
        </p:txBody>
      </p:sp>
      <p:sp>
        <p:nvSpPr>
          <p:cNvPr id="9" name="Text 7"/>
          <p:cNvSpPr/>
          <p:nvPr/>
        </p:nvSpPr>
        <p:spPr>
          <a:xfrm>
            <a:off x="2362095" y="3330439"/>
            <a:ext cx="3636637"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seulement revendent ; freins : le temps et le prix (OpinionWay 2025).</a:t>
            </a:r>
            <a:endParaRPr lang="en-US" sz="1400" dirty="0"/>
          </a:p>
        </p:txBody>
      </p:sp>
      <p:sp>
        <p:nvSpPr>
          <p:cNvPr id="10" name="Text 8"/>
          <p:cNvSpPr/>
          <p:nvPr/>
        </p:nvSpPr>
        <p:spPr>
          <a:xfrm>
            <a:off x="6299162" y="3107844"/>
            <a:ext cx="1447740" cy="523267"/>
          </a:xfrm>
          <a:prstGeom prst="rect">
            <a:avLst/>
          </a:prstGeom>
          <a:noFill/>
          <a:ln/>
        </p:spPr>
        <p:txBody>
          <a:bodyPr wrap="non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0</a:t>
            </a:r>
            <a:endParaRPr lang="en-US" sz="2800" dirty="0"/>
          </a:p>
        </p:txBody>
      </p:sp>
      <p:sp>
        <p:nvSpPr>
          <p:cNvPr id="11" name="Text 9"/>
          <p:cNvSpPr/>
          <p:nvPr/>
        </p:nvSpPr>
        <p:spPr>
          <a:xfrm>
            <a:off x="7848483" y="3330439"/>
            <a:ext cx="3636637"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inventaire dans les applis MAIF et Macif : la place est libre côté assureurs.</a:t>
            </a:r>
            <a:endParaRPr lang="en-US" sz="1400" dirty="0"/>
          </a:p>
        </p:txBody>
      </p:sp>
      <p:sp>
        <p:nvSpPr>
          <p:cNvPr id="12" name="Text 10"/>
          <p:cNvSpPr/>
          <p:nvPr/>
        </p:nvSpPr>
        <p:spPr>
          <a:xfrm>
            <a:off x="819124" y="4139347"/>
            <a:ext cx="10553725" cy="808407"/>
          </a:xfrm>
          <a:prstGeom prst="roundRect">
            <a:avLst>
              <a:gd name="adj" fmla="val 8640"/>
            </a:avLst>
          </a:prstGeom>
          <a:solidFill>
            <a:srgbClr val="FBF6EE"/>
          </a:solidFill>
          <a:ln w="12700">
            <a:solidFill>
              <a:srgbClr val="B8461B"/>
            </a:solidFill>
            <a:prstDash val="dash"/>
          </a:ln>
        </p:spPr>
        <p:txBody>
          <a:bodyPr wrap="square" lIns="185666" tIns="134866" rIns="0" bIns="109466" rtlCol="0" anchor="t">
            <a:normAutofit/>
          </a:bodyPr>
          <a:lstStyle/>
          <a:p>
            <a:pPr algn="l" indent="0" marL="0">
              <a:lnSpc>
                <a:spcPts val="1960"/>
              </a:lnSpc>
              <a:buNone/>
            </a:pPr>
            <a:r>
              <a:rPr lang="en-US" sz="1400" b="1" dirty="0">
                <a:solidFill>
                  <a:srgbClr val="1E2A2B"/>
                </a:solidFill>
                <a:latin typeface="Public Sans" pitchFamily="34" charset="0"/>
                <a:ea typeface="Public Sans" pitchFamily="34" charset="-122"/>
                <a:cs typeface="Public Sans" pitchFamily="34" charset="-120"/>
              </a:rPr>
              <a:t>Limite assumée :</a:t>
            </a:r>
            <a:r>
              <a:rPr lang="en-US" sz="1400" dirty="0">
                <a:solidFill>
                  <a:srgbClr val="1E2A2B"/>
                </a:solidFill>
                <a:latin typeface="Public Sans" pitchFamily="34" charset="0"/>
                <a:ea typeface="Public Sans" pitchFamily="34" charset="-122"/>
                <a:cs typeface="Public Sans" pitchFamily="34" charset="-120"/>
              </a:rPr>
              <a:t> une Discovery fondée sur des données publiques. Les entretiens utilisateurs (guide prêt, 8 questions) sont la prochaine étape.</a:t>
            </a:r>
            <a:endParaRPr lang="en-US" sz="1400" dirty="0"/>
          </a:p>
        </p:txBody>
      </p:sp>
      <p:sp>
        <p:nvSpPr>
          <p:cNvPr id="13" name="Text 11"/>
          <p:cNvSpPr/>
          <p:nvPr/>
        </p:nvSpPr>
        <p:spPr>
          <a:xfrm>
            <a:off x="812774" y="6238298"/>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Détail et sources : docs/recherche-terrain.md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2"/>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PHASE DISCOVERY · CE QU’ELLE A CHANGÉ</a:t>
            </a:r>
            <a:endParaRPr lang="en-US" sz="1200" dirty="0"/>
          </a:p>
        </p:txBody>
      </p:sp>
      <p:sp>
        <p:nvSpPr>
          <p:cNvPr id="3" name="Text 1"/>
          <p:cNvSpPr/>
          <p:nvPr>
            <p:ph type="title"/>
          </p:nvPr>
        </p:nvSpPr>
        <p:spPr>
          <a:xfrm>
            <a:off x="812774" y="1127680"/>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Six décisions produit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944657"/>
          <a:ext cx="10557078" cy="2677582"/>
        </p:xfrm>
        <a:graphic>
          <a:graphicData uri="http://schemas.openxmlformats.org/drawingml/2006/table">
            <a:tbl>
              <a:tblPr/>
              <a:tblGrid>
                <a:gridCol w="4011690"/>
                <a:gridCol w="6545388"/>
              </a:tblGrid>
              <a:tr h="382512">
                <a:tc>
                  <a:txBody>
                    <a:bodyPr/>
                    <a:lstStyle/>
                    <a:p>
                      <a:pPr indent="0" marL="0">
                        <a:lnSpc>
                          <a:spcPts val="1960"/>
                        </a:lnSpc>
                        <a:buNone/>
                      </a:pPr>
                      <a:r>
                        <a:rPr lang="en-US" sz="1400" b="1" dirty="0">
                          <a:solidFill>
                            <a:srgbClr val="1E2A2B"/>
                          </a:solidFill>
                          <a:latin typeface="Public Sans" pitchFamily="34" charset="0"/>
                          <a:ea typeface="Public Sans" pitchFamily="34" charset="-122"/>
                          <a:cs typeface="Public Sans" pitchFamily="34" charset="-120"/>
                        </a:rPr>
                        <a:t>Décision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960"/>
                        </a:lnSpc>
                        <a:buNone/>
                      </a:pPr>
                      <a:r>
                        <a:rPr lang="en-US" sz="1400" b="1" dirty="0">
                          <a:solidFill>
                            <a:srgbClr val="1E2A2B"/>
                          </a:solidFill>
                          <a:latin typeface="Public Sans" pitchFamily="34" charset="0"/>
                          <a:ea typeface="Public Sans" pitchFamily="34" charset="-122"/>
                          <a:cs typeface="Public Sans" pitchFamily="34" charset="-120"/>
                        </a:rPr>
                        <a:t>Pourquoi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On parle de foyer, pas de couple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Couple, colocation, famille ou personne seule : même besoin.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Le dressing est une catégorie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Une seule saisie, un seul modèle d’objet.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Mur des 100 objets = déclencheur premium</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L’utilisateur y arrive investi ; la lecture n’est jamais bloquée.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Partage gratuit jusqu’à 2 membres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Notre persona principale vit à deux.</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3 champs et ajout enchaîné</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Pour tenir les 10 secondes.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Photo sans détourage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Première source de bugs chez les concurrents.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812772"/>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PERSONAS</a:t>
            </a:r>
            <a:endParaRPr lang="en-US" sz="1200" dirty="0"/>
          </a:p>
        </p:txBody>
      </p:sp>
      <p:sp>
        <p:nvSpPr>
          <p:cNvPr id="3" name="Text 1"/>
          <p:cNvSpPr/>
          <p:nvPr>
            <p:ph type="title"/>
          </p:nvPr>
        </p:nvSpPr>
        <p:spPr>
          <a:xfrm>
            <a:off x="812774" y="1127680"/>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EADB"/>
                </a:solidFill>
                <a:latin typeface="Oswald" pitchFamily="34" charset="0"/>
                <a:ea typeface="Oswald" pitchFamily="34" charset="-122"/>
                <a:cs typeface="Oswald" pitchFamily="34" charset="-120"/>
              </a:rPr>
              <a:t>Trois foyers, un même problème</a:t>
            </a:r>
            <a:endParaRPr lang="en-US" sz="3600" dirty="0"/>
          </a:p>
        </p:txBody>
      </p:sp>
      <p:sp>
        <p:nvSpPr>
          <p:cNvPr id="4" name="Shape 2"/>
          <p:cNvSpPr/>
          <p:nvPr/>
        </p:nvSpPr>
        <p:spPr>
          <a:xfrm>
            <a:off x="812774" y="1935383"/>
            <a:ext cx="3386667" cy="3906634"/>
          </a:xfrm>
          <a:prstGeom prst="roundRect">
            <a:avLst>
              <a:gd name="adj" fmla="val 3000"/>
            </a:avLst>
          </a:prstGeom>
          <a:solidFill>
            <a:srgbClr val="2C3B3C"/>
          </a:solidFill>
          <a:ln/>
        </p:spPr>
      </p:sp>
      <p:sp>
        <p:nvSpPr>
          <p:cNvPr id="5" name="Shape 3"/>
          <p:cNvSpPr/>
          <p:nvPr/>
        </p:nvSpPr>
        <p:spPr>
          <a:xfrm>
            <a:off x="812774" y="1935383"/>
            <a:ext cx="3386667" cy="3906634"/>
          </a:xfrm>
          <a:custGeom>
            <a:avLst/>
            <a:gdLst/>
            <a:ahLst/>
            <a:cxnLst/>
            <a:rect l="l" t="t" r="r" b="b"/>
            <a:pathLst>
              <a:path w="3386667" h="3906634">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E8894F"/>
          </a:solidFill>
          <a:ln/>
        </p:spPr>
      </p:sp>
      <p:sp>
        <p:nvSpPr>
          <p:cNvPr id="6" name="Text 4"/>
          <p:cNvSpPr/>
          <p:nvPr/>
        </p:nvSpPr>
        <p:spPr>
          <a:xfrm>
            <a:off x="1066743" y="2235727"/>
            <a:ext cx="2965091"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Léa, 28 ans</a:t>
            </a:r>
            <a:endParaRPr lang="en-US" sz="2200" dirty="0"/>
          </a:p>
        </p:txBody>
      </p:sp>
      <p:sp>
        <p:nvSpPr>
          <p:cNvPr id="7" name="Text 5"/>
          <p:cNvSpPr/>
          <p:nvPr/>
        </p:nvSpPr>
        <p:spPr>
          <a:xfrm>
            <a:off x="1066743" y="2672581"/>
            <a:ext cx="29650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894F"/>
                </a:solidFill>
                <a:latin typeface="Public Sans" pitchFamily="34" charset="0"/>
                <a:ea typeface="Public Sans" pitchFamily="34" charset="-122"/>
                <a:cs typeface="Public Sans" pitchFamily="34" charset="-120"/>
              </a:rPr>
              <a:t>PERSONA PRINCIPALE</a:t>
            </a:r>
            <a:endParaRPr lang="en-US" sz="1200" dirty="0"/>
          </a:p>
        </p:txBody>
      </p:sp>
      <p:sp>
        <p:nvSpPr>
          <p:cNvPr id="8" name="Text 6"/>
          <p:cNvSpPr/>
          <p:nvPr/>
        </p:nvSpPr>
        <p:spPr>
          <a:xfrm>
            <a:off x="1066743" y="2987489"/>
            <a:ext cx="2965091"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Vient de mettre ses affaires en commun avec Marc. Des doublons partout.</a:t>
            </a:r>
            <a:endParaRPr lang="en-US" sz="1300" dirty="0"/>
          </a:p>
        </p:txBody>
      </p:sp>
      <p:sp>
        <p:nvSpPr>
          <p:cNvPr id="9" name="Text 7"/>
          <p:cNvSpPr/>
          <p:nvPr/>
        </p:nvSpPr>
        <p:spPr>
          <a:xfrm>
            <a:off x="1066743" y="3782510"/>
            <a:ext cx="2965091" cy="487689"/>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A9B8B5"/>
                </a:solidFill>
                <a:latin typeface="Public Sans" pitchFamily="34" charset="0"/>
                <a:ea typeface="Public Sans" pitchFamily="34" charset="-122"/>
                <a:cs typeface="Public Sans" pitchFamily="34" charset="-120"/>
              </a:rPr>
              <a:t>« On a deux aspirateurs, trois passoires… »</a:t>
            </a:r>
            <a:endParaRPr lang="en-US" sz="1300" dirty="0"/>
          </a:p>
        </p:txBody>
      </p:sp>
      <p:sp>
        <p:nvSpPr>
          <p:cNvPr id="10" name="Shape 8"/>
          <p:cNvSpPr/>
          <p:nvPr/>
        </p:nvSpPr>
        <p:spPr>
          <a:xfrm>
            <a:off x="4402617" y="1935383"/>
            <a:ext cx="3386740" cy="3906634"/>
          </a:xfrm>
          <a:prstGeom prst="roundRect">
            <a:avLst>
              <a:gd name="adj" fmla="val 3000"/>
            </a:avLst>
          </a:prstGeom>
          <a:solidFill>
            <a:srgbClr val="2C3B3C"/>
          </a:solidFill>
          <a:ln/>
        </p:spPr>
      </p:sp>
      <p:sp>
        <p:nvSpPr>
          <p:cNvPr id="11" name="Shape 9"/>
          <p:cNvSpPr/>
          <p:nvPr/>
        </p:nvSpPr>
        <p:spPr>
          <a:xfrm>
            <a:off x="4402617" y="1935383"/>
            <a:ext cx="3386740" cy="3906634"/>
          </a:xfrm>
          <a:custGeom>
            <a:avLst/>
            <a:gdLst/>
            <a:ahLst/>
            <a:cxnLst/>
            <a:rect l="l" t="t" r="r" b="b"/>
            <a:pathLst>
              <a:path w="3386740" h="3906634">
                <a:moveTo>
                  <a:pt x="0" y="101600"/>
                </a:moveTo>
                <a:lnTo>
                  <a:pt x="0" y="101600"/>
                </a:lnTo>
                <a:arcTo hR="101600" wR="101600" stAng="10800000" swAng="5400000"/>
                <a:lnTo>
                  <a:pt x="3285140" y="0"/>
                </a:lnTo>
                <a:arcTo hR="101600" wR="101600" stAng="16200000" swAng="5400000"/>
                <a:lnTo>
                  <a:pt x="3386740" y="101600"/>
                </a:lnTo>
                <a:arcTo hR="50800" wR="101600" stAng="0" swAng="-5400000"/>
                <a:lnTo>
                  <a:pt x="101600" y="50800"/>
                </a:lnTo>
                <a:arcTo hR="50800" wR="101600" stAng="16200000" swAng="-5400000"/>
                <a:close/>
              </a:path>
            </a:pathLst>
          </a:custGeom>
          <a:solidFill>
            <a:srgbClr val="A9B8B5"/>
          </a:solidFill>
          <a:ln/>
        </p:spPr>
      </p:sp>
      <p:sp>
        <p:nvSpPr>
          <p:cNvPr id="12" name="Text 10"/>
          <p:cNvSpPr/>
          <p:nvPr/>
        </p:nvSpPr>
        <p:spPr>
          <a:xfrm>
            <a:off x="4656586" y="2235727"/>
            <a:ext cx="2965165"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Marc, 31 ans</a:t>
            </a:r>
            <a:endParaRPr lang="en-US" sz="2200" dirty="0"/>
          </a:p>
        </p:txBody>
      </p:sp>
      <p:sp>
        <p:nvSpPr>
          <p:cNvPr id="13" name="Text 11"/>
          <p:cNvSpPr/>
          <p:nvPr/>
        </p:nvSpPr>
        <p:spPr>
          <a:xfrm>
            <a:off x="4656586" y="2672581"/>
            <a:ext cx="296516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B8B5"/>
                </a:solidFill>
                <a:latin typeface="Public Sans" pitchFamily="34" charset="0"/>
                <a:ea typeface="Public Sans" pitchFamily="34" charset="-122"/>
                <a:cs typeface="Public Sans" pitchFamily="34" charset="-120"/>
              </a:rPr>
              <a:t>DEUXIÈME MEMBRE</a:t>
            </a:r>
            <a:endParaRPr lang="en-US" sz="1200" dirty="0"/>
          </a:p>
        </p:txBody>
      </p:sp>
      <p:sp>
        <p:nvSpPr>
          <p:cNvPr id="14" name="Text 12"/>
          <p:cNvSpPr/>
          <p:nvPr/>
        </p:nvSpPr>
        <p:spPr>
          <a:xfrm>
            <a:off x="4656586" y="2987489"/>
            <a:ext cx="2965165"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Beaucoup de high-tech, des factures éparpillées, aucune envie de saisir.</a:t>
            </a:r>
            <a:endParaRPr lang="en-US" sz="1300" dirty="0"/>
          </a:p>
        </p:txBody>
      </p:sp>
      <p:sp>
        <p:nvSpPr>
          <p:cNvPr id="15" name="Text 13"/>
          <p:cNvSpPr/>
          <p:nvPr/>
        </p:nvSpPr>
        <p:spPr>
          <a:xfrm>
            <a:off x="4656586" y="3551368"/>
            <a:ext cx="2965165" cy="487689"/>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A9B8B5"/>
                </a:solidFill>
                <a:latin typeface="Public Sans" pitchFamily="34" charset="0"/>
                <a:ea typeface="Public Sans" pitchFamily="34" charset="-122"/>
                <a:cs typeface="Public Sans" pitchFamily="34" charset="-120"/>
              </a:rPr>
              <a:t>« Je sais que la facture existe. Je ne sais juste pas où. »</a:t>
            </a:r>
            <a:endParaRPr lang="en-US" sz="1300" dirty="0"/>
          </a:p>
        </p:txBody>
      </p:sp>
      <p:sp>
        <p:nvSpPr>
          <p:cNvPr id="16" name="Shape 14"/>
          <p:cNvSpPr/>
          <p:nvPr/>
        </p:nvSpPr>
        <p:spPr>
          <a:xfrm>
            <a:off x="7992532" y="1935383"/>
            <a:ext cx="3386667" cy="3906634"/>
          </a:xfrm>
          <a:prstGeom prst="roundRect">
            <a:avLst>
              <a:gd name="adj" fmla="val 3000"/>
            </a:avLst>
          </a:prstGeom>
          <a:solidFill>
            <a:srgbClr val="2C3B3C"/>
          </a:solidFill>
          <a:ln/>
        </p:spPr>
      </p:sp>
      <p:sp>
        <p:nvSpPr>
          <p:cNvPr id="17" name="Shape 15"/>
          <p:cNvSpPr/>
          <p:nvPr/>
        </p:nvSpPr>
        <p:spPr>
          <a:xfrm>
            <a:off x="7992532" y="1935383"/>
            <a:ext cx="3386667" cy="3906634"/>
          </a:xfrm>
          <a:custGeom>
            <a:avLst/>
            <a:gdLst/>
            <a:ahLst/>
            <a:cxnLst/>
            <a:rect l="l" t="t" r="r" b="b"/>
            <a:pathLst>
              <a:path w="3386667" h="3906634">
                <a:moveTo>
                  <a:pt x="0" y="101600"/>
                </a:moveTo>
                <a:lnTo>
                  <a:pt x="0" y="101600"/>
                </a:lnTo>
                <a:arcTo hR="101600" wR="101600" stAng="10800000" swAng="5400000"/>
                <a:lnTo>
                  <a:pt x="3285067" y="0"/>
                </a:lnTo>
                <a:arcTo hR="101600" wR="101600" stAng="16200000" swAng="5400000"/>
                <a:lnTo>
                  <a:pt x="3386667" y="101600"/>
                </a:lnTo>
                <a:arcTo hR="50800" wR="101600" stAng="0" swAng="-5400000"/>
                <a:lnTo>
                  <a:pt x="101600" y="50800"/>
                </a:lnTo>
                <a:arcTo hR="50800" wR="101600" stAng="16200000" swAng="-5400000"/>
                <a:close/>
              </a:path>
            </a:pathLst>
          </a:custGeom>
          <a:solidFill>
            <a:srgbClr val="A9B8B5"/>
          </a:solidFill>
          <a:ln/>
        </p:spPr>
      </p:sp>
      <p:sp>
        <p:nvSpPr>
          <p:cNvPr id="18" name="Text 16"/>
          <p:cNvSpPr/>
          <p:nvPr/>
        </p:nvSpPr>
        <p:spPr>
          <a:xfrm>
            <a:off x="8246501" y="2235727"/>
            <a:ext cx="2965091"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Sarah, 25 ans</a:t>
            </a:r>
            <a:endParaRPr lang="en-US" sz="2200" dirty="0"/>
          </a:p>
        </p:txBody>
      </p:sp>
      <p:sp>
        <p:nvSpPr>
          <p:cNvPr id="19" name="Text 17"/>
          <p:cNvSpPr/>
          <p:nvPr/>
        </p:nvSpPr>
        <p:spPr>
          <a:xfrm>
            <a:off x="8246501" y="2672581"/>
            <a:ext cx="29650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B8B5"/>
                </a:solidFill>
                <a:latin typeface="Public Sans" pitchFamily="34" charset="0"/>
                <a:ea typeface="Public Sans" pitchFamily="34" charset="-122"/>
                <a:cs typeface="Public Sans" pitchFamily="34" charset="-120"/>
              </a:rPr>
              <a:t>FOYER D’UNE PERSONNE</a:t>
            </a:r>
            <a:endParaRPr lang="en-US" sz="1200" dirty="0"/>
          </a:p>
        </p:txBody>
      </p:sp>
      <p:sp>
        <p:nvSpPr>
          <p:cNvPr id="20" name="Text 18"/>
          <p:cNvSpPr/>
          <p:nvPr/>
        </p:nvSpPr>
        <p:spPr>
          <a:xfrm>
            <a:off x="8246501" y="2987489"/>
            <a:ext cx="296509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Premier appartement. Un dressing plein qu’elle ne connaît pas.</a:t>
            </a:r>
            <a:endParaRPr lang="en-US" sz="1300" dirty="0"/>
          </a:p>
        </p:txBody>
      </p:sp>
      <p:sp>
        <p:nvSpPr>
          <p:cNvPr id="21" name="Text 19"/>
          <p:cNvSpPr/>
          <p:nvPr/>
        </p:nvSpPr>
        <p:spPr>
          <a:xfrm>
            <a:off x="8246501" y="3551368"/>
            <a:ext cx="2965091" cy="487689"/>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A9B8B5"/>
                </a:solidFill>
                <a:latin typeface="Public Sans" pitchFamily="34" charset="0"/>
                <a:ea typeface="Public Sans" pitchFamily="34" charset="-122"/>
                <a:cs typeface="Public Sans" pitchFamily="34" charset="-120"/>
              </a:rPr>
              <a:t>« J’ai racheté un jean noir. J’en avais déjà un, avec l’étiquette. »</a:t>
            </a:r>
            <a:endParaRPr lang="en-US" sz="1300" dirty="0"/>
          </a:p>
        </p:txBody>
      </p:sp>
      <p:sp>
        <p:nvSpPr>
          <p:cNvPr id="22" name="Text 20"/>
          <p:cNvSpPr/>
          <p:nvPr/>
        </p:nvSpPr>
        <p:spPr>
          <a:xfrm>
            <a:off x="812774" y="6238295"/>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B5"/>
                </a:solidFill>
                <a:latin typeface="Public Sans" pitchFamily="34" charset="0"/>
                <a:ea typeface="Public Sans" pitchFamily="34" charset="-122"/>
                <a:cs typeface="Public Sans" pitchFamily="34" charset="-120"/>
              </a:rPr>
              <a:t>Anti-personas : le chercheur d’objets, le perfectionniste du tableur, l’assuré qui ne veut qu’un PDF.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USER STORIES</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Six stories, toutes livrées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893867"/>
          <a:ext cx="10557078" cy="2491435"/>
        </p:xfrm>
        <a:graphic>
          <a:graphicData uri="http://schemas.openxmlformats.org/drawingml/2006/table">
            <a:tbl>
              <a:tblPr/>
              <a:tblGrid>
                <a:gridCol w="844566"/>
                <a:gridCol w="6545388"/>
                <a:gridCol w="1477991"/>
                <a:gridCol w="844566"/>
                <a:gridCol w="844566"/>
              </a:tblGrid>
              <a:tr h="355919">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ID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En tant que… je veux… afin de…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Persona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Prio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État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ajouter un objet en moins de 10 s et enchaîner, pour cataloguer 50 objets d’affilée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Léa, Sarah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voir tout le foyer par pièce et par catégorie, pour savoir ce qu’on 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Léa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être alerté d’un doublon et chercher en magasin, pour ne plus racheter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Léa, Sarah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marquer mes vêtements portés, dormants ou à revendre, pour trier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Sarah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inviter un membre avec un code, pour un inventaire commun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Léa, Marc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suivre le total, la valeur, et compléter une fiche plus tard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Marc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bl>
          </a:graphicData>
        </a:graphic>
      </p:graphicFrame>
      <p:sp>
        <p:nvSpPr>
          <p:cNvPr id="5" name="Text 2"/>
          <p:cNvSpPr/>
          <p:nvPr/>
        </p:nvSpPr>
        <p:spPr>
          <a:xfrm>
            <a:off x="812774" y="4639270"/>
            <a:ext cx="10883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Chaque story a ses critères d’acceptation « Étant donné / Quand / Alors » (CA-0.1 à CA-6.9).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ADB"/>
        </a:solidFill>
      </p:bgPr>
    </p:bg>
    <p:spTree>
      <p:nvGrpSpPr>
        <p:cNvPr id="1" name=""/>
        <p:cNvGrpSpPr/>
        <p:nvPr/>
      </p:nvGrpSpPr>
      <p:grpSpPr>
        <a:xfrm>
          <a:off x="0" y="0"/>
          <a:ext cx="0" cy="0"/>
          <a:chOff x="0" y="0"/>
          <a:chExt cx="0" cy="0"/>
        </a:xfrm>
      </p:grpSpPr>
      <p:sp>
        <p:nvSpPr>
          <p:cNvPr id="2" name="Text 0"/>
          <p:cNvSpPr/>
          <p:nvPr>
            <p:ph type="title"/>
          </p:nvPr>
        </p:nvSpPr>
        <p:spPr>
          <a:xfrm>
            <a:off x="812774" y="609594"/>
            <a:ext cx="1975961" cy="4724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2A2B"/>
                </a:solidFill>
                <a:latin typeface="Oswald" pitchFamily="34" charset="0"/>
                <a:ea typeface="Oswald" pitchFamily="34" charset="-122"/>
                <a:cs typeface="Oswald" pitchFamily="34" charset="-120"/>
              </a:rPr>
              <a:t>Story map</a:t>
            </a:r>
            <a:endParaRPr lang="en-US" sz="3200" dirty="0"/>
          </a:p>
        </p:txBody>
      </p:sp>
      <p:sp>
        <p:nvSpPr>
          <p:cNvPr id="3" name="Text 1"/>
          <p:cNvSpPr/>
          <p:nvPr/>
        </p:nvSpPr>
        <p:spPr>
          <a:xfrm>
            <a:off x="7616657" y="843279"/>
            <a:ext cx="376254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Le parcours en haut, les releases en dessous</a:t>
            </a:r>
            <a:endParaRPr lang="en-US" sz="1200" dirty="0"/>
          </a:p>
        </p:txBody>
      </p:sp>
      <p:sp>
        <p:nvSpPr>
          <p:cNvPr id="4" name="Text 2"/>
          <p:cNvSpPr/>
          <p:nvPr/>
        </p:nvSpPr>
        <p:spPr>
          <a:xfrm>
            <a:off x="2158920" y="1234337"/>
            <a:ext cx="1251876"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Créer son foyer</a:t>
            </a:r>
            <a:endParaRPr lang="en-US" sz="1200" dirty="0"/>
          </a:p>
        </p:txBody>
      </p:sp>
      <p:sp>
        <p:nvSpPr>
          <p:cNvPr id="5" name="Text 3"/>
          <p:cNvSpPr/>
          <p:nvPr/>
        </p:nvSpPr>
        <p:spPr>
          <a:xfrm>
            <a:off x="3486951" y="1234337"/>
            <a:ext cx="1251876"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Inventorier</a:t>
            </a:r>
            <a:endParaRPr lang="en-US" sz="1200" dirty="0"/>
          </a:p>
        </p:txBody>
      </p:sp>
      <p:sp>
        <p:nvSpPr>
          <p:cNvPr id="6" name="Text 4"/>
          <p:cNvSpPr/>
          <p:nvPr/>
        </p:nvSpPr>
        <p:spPr>
          <a:xfrm>
            <a:off x="4814982" y="1234337"/>
            <a:ext cx="1251949"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Consulter</a:t>
            </a:r>
            <a:endParaRPr lang="en-US" sz="1200" dirty="0"/>
          </a:p>
        </p:txBody>
      </p:sp>
      <p:sp>
        <p:nvSpPr>
          <p:cNvPr id="7" name="Text 5"/>
          <p:cNvSpPr/>
          <p:nvPr/>
        </p:nvSpPr>
        <p:spPr>
          <a:xfrm>
            <a:off x="6143085" y="1234337"/>
            <a:ext cx="1251876"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Vérifier avant d’acheter</a:t>
            </a:r>
            <a:endParaRPr lang="en-US" sz="1200" dirty="0"/>
          </a:p>
        </p:txBody>
      </p:sp>
      <p:sp>
        <p:nvSpPr>
          <p:cNvPr id="8" name="Text 6"/>
          <p:cNvSpPr/>
          <p:nvPr/>
        </p:nvSpPr>
        <p:spPr>
          <a:xfrm>
            <a:off x="7471116" y="1234337"/>
            <a:ext cx="1251949"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Gérer son dressing</a:t>
            </a:r>
            <a:endParaRPr lang="en-US" sz="1200" dirty="0"/>
          </a:p>
        </p:txBody>
      </p:sp>
      <p:sp>
        <p:nvSpPr>
          <p:cNvPr id="9" name="Text 7"/>
          <p:cNvSpPr/>
          <p:nvPr/>
        </p:nvSpPr>
        <p:spPr>
          <a:xfrm>
            <a:off x="8799219" y="1234337"/>
            <a:ext cx="1251876"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Partager</a:t>
            </a:r>
            <a:endParaRPr lang="en-US" sz="1200" dirty="0"/>
          </a:p>
        </p:txBody>
      </p:sp>
      <p:sp>
        <p:nvSpPr>
          <p:cNvPr id="10" name="Text 8"/>
          <p:cNvSpPr/>
          <p:nvPr/>
        </p:nvSpPr>
        <p:spPr>
          <a:xfrm>
            <a:off x="10127250" y="1234337"/>
            <a:ext cx="1251876" cy="517938"/>
          </a:xfrm>
          <a:prstGeom prst="roundRect">
            <a:avLst>
              <a:gd name="adj" fmla="val 9808"/>
            </a:avLst>
          </a:prstGeom>
          <a:solidFill>
            <a:srgbClr val="1E2A2B"/>
          </a:solidFill>
          <a:ln/>
        </p:spPr>
        <p:txBody>
          <a:bodyPr wrap="square" lIns="61321" tIns="61321" rIns="10521" bIns="35921" rtlCol="0" anchor="t">
            <a:normAutofit/>
          </a:bodyPr>
          <a:lstStyle/>
          <a:p>
            <a:pPr algn="l" indent="0" marL="0">
              <a:lnSpc>
                <a:spcPts val="1440"/>
              </a:lnSpc>
              <a:buNone/>
            </a:pPr>
            <a:r>
              <a:rPr lang="en-US" sz="1200" b="1" dirty="0">
                <a:solidFill>
                  <a:srgbClr val="F2EADB"/>
                </a:solidFill>
                <a:latin typeface="Public Sans" pitchFamily="34" charset="0"/>
                <a:ea typeface="Public Sans" pitchFamily="34" charset="-122"/>
                <a:cs typeface="Public Sans" pitchFamily="34" charset="-120"/>
              </a:rPr>
              <a:t>Suivre, valoriser</a:t>
            </a:r>
            <a:endParaRPr lang="en-US" sz="1200" dirty="0"/>
          </a:p>
        </p:txBody>
      </p:sp>
      <p:sp>
        <p:nvSpPr>
          <p:cNvPr id="11" name="Text 9"/>
          <p:cNvSpPr/>
          <p:nvPr/>
        </p:nvSpPr>
        <p:spPr>
          <a:xfrm>
            <a:off x="812774" y="1828434"/>
            <a:ext cx="1320791" cy="767526"/>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8461B"/>
                </a:solidFill>
                <a:latin typeface="Public Sans" pitchFamily="34" charset="0"/>
                <a:ea typeface="Public Sans" pitchFamily="34" charset="-122"/>
                <a:cs typeface="Public Sans" pitchFamily="34" charset="-120"/>
              </a:rPr>
              <a:t>MVP ✅ livré</a:t>
            </a:r>
            <a:endParaRPr lang="en-US" sz="1200" dirty="0"/>
          </a:p>
        </p:txBody>
      </p:sp>
      <p:sp>
        <p:nvSpPr>
          <p:cNvPr id="12" name="Text 10"/>
          <p:cNvSpPr/>
          <p:nvPr/>
        </p:nvSpPr>
        <p:spPr>
          <a:xfrm>
            <a:off x="2165270" y="1834784"/>
            <a:ext cx="1239176"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Compte, code foyer, pièces</a:t>
            </a:r>
            <a:endParaRPr lang="en-US" sz="1200" dirty="0"/>
          </a:p>
        </p:txBody>
      </p:sp>
      <p:sp>
        <p:nvSpPr>
          <p:cNvPr id="13" name="Text 11"/>
          <p:cNvSpPr/>
          <p:nvPr/>
        </p:nvSpPr>
        <p:spPr>
          <a:xfrm>
            <a:off x="3493301" y="1834784"/>
            <a:ext cx="1239176"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Ajout rapide, enchaîné, photo</a:t>
            </a:r>
            <a:endParaRPr lang="en-US" sz="1200" dirty="0"/>
          </a:p>
        </p:txBody>
      </p:sp>
      <p:sp>
        <p:nvSpPr>
          <p:cNvPr id="14" name="Text 12"/>
          <p:cNvSpPr/>
          <p:nvPr/>
        </p:nvSpPr>
        <p:spPr>
          <a:xfrm>
            <a:off x="4821332" y="1834784"/>
            <a:ext cx="1239249"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Par pièce, par catégorie</a:t>
            </a:r>
            <a:endParaRPr lang="en-US" sz="1200" dirty="0"/>
          </a:p>
        </p:txBody>
      </p:sp>
      <p:sp>
        <p:nvSpPr>
          <p:cNvPr id="15" name="Text 13"/>
          <p:cNvSpPr/>
          <p:nvPr/>
        </p:nvSpPr>
        <p:spPr>
          <a:xfrm>
            <a:off x="6149435" y="1834784"/>
            <a:ext cx="1239176"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Alerte doublon, recherche</a:t>
            </a:r>
            <a:endParaRPr lang="en-US" sz="1200" dirty="0"/>
          </a:p>
        </p:txBody>
      </p:sp>
      <p:sp>
        <p:nvSpPr>
          <p:cNvPr id="16" name="Text 14"/>
          <p:cNvSpPr/>
          <p:nvPr/>
        </p:nvSpPr>
        <p:spPr>
          <a:xfrm>
            <a:off x="7477466" y="1834784"/>
            <a:ext cx="1239249"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Modale dressing, statuts</a:t>
            </a:r>
            <a:endParaRPr lang="en-US" sz="1200" dirty="0"/>
          </a:p>
        </p:txBody>
      </p:sp>
      <p:sp>
        <p:nvSpPr>
          <p:cNvPr id="17" name="Text 15"/>
          <p:cNvSpPr/>
          <p:nvPr/>
        </p:nvSpPr>
        <p:spPr>
          <a:xfrm>
            <a:off x="8805569" y="1834784"/>
            <a:ext cx="1239176"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Code à 6 caractères, 2 membres</a:t>
            </a:r>
            <a:endParaRPr lang="en-US" sz="1200" dirty="0"/>
          </a:p>
        </p:txBody>
      </p:sp>
      <p:sp>
        <p:nvSpPr>
          <p:cNvPr id="18" name="Text 16"/>
          <p:cNvSpPr/>
          <p:nvPr/>
        </p:nvSpPr>
        <p:spPr>
          <a:xfrm>
            <a:off x="10133600" y="1834784"/>
            <a:ext cx="1239176" cy="729426"/>
          </a:xfrm>
          <a:prstGeom prst="roundRect">
            <a:avLst>
              <a:gd name="adj" fmla="val 6094"/>
            </a:avLst>
          </a:prstGeom>
          <a:solidFill>
            <a:srgbClr val="FBF6EE"/>
          </a:solidFill>
          <a:ln w="12700">
            <a:solidFill>
              <a:srgbClr val="B8461B"/>
            </a:solidFill>
            <a:prstDash val="solid"/>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Total, valeur, mur à 100</a:t>
            </a:r>
            <a:endParaRPr lang="en-US" sz="1200" dirty="0"/>
          </a:p>
        </p:txBody>
      </p:sp>
      <p:sp>
        <p:nvSpPr>
          <p:cNvPr id="19" name="Text 17"/>
          <p:cNvSpPr/>
          <p:nvPr/>
        </p:nvSpPr>
        <p:spPr>
          <a:xfrm>
            <a:off x="812774" y="2646710"/>
            <a:ext cx="1320791" cy="57710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E2A2B"/>
                </a:solidFill>
                <a:latin typeface="Public Sans" pitchFamily="34" charset="0"/>
                <a:ea typeface="Public Sans" pitchFamily="34" charset="-122"/>
                <a:cs typeface="Public Sans" pitchFamily="34" charset="-120"/>
              </a:rPr>
              <a:t>Release 2 finir le MVP</a:t>
            </a:r>
            <a:endParaRPr lang="en-US" sz="1200" dirty="0"/>
          </a:p>
        </p:txBody>
      </p:sp>
      <p:sp>
        <p:nvSpPr>
          <p:cNvPr id="20" name="Text 18"/>
          <p:cNvSpPr/>
          <p:nvPr/>
        </p:nvSpPr>
        <p:spPr>
          <a:xfrm>
            <a:off x="2165270" y="2653060"/>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Accueil après connexion</a:t>
            </a:r>
            <a:endParaRPr lang="en-US" sz="1200" dirty="0"/>
          </a:p>
        </p:txBody>
      </p:sp>
      <p:sp>
        <p:nvSpPr>
          <p:cNvPr id="21" name="Text 19"/>
          <p:cNvSpPr/>
          <p:nvPr/>
        </p:nvSpPr>
        <p:spPr>
          <a:xfrm>
            <a:off x="3493301" y="2653060"/>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Modifier un objet</a:t>
            </a:r>
            <a:endParaRPr lang="en-US" sz="1200" dirty="0"/>
          </a:p>
        </p:txBody>
      </p:sp>
      <p:sp>
        <p:nvSpPr>
          <p:cNvPr id="22" name="Text 20"/>
          <p:cNvSpPr/>
          <p:nvPr/>
        </p:nvSpPr>
        <p:spPr>
          <a:xfrm>
            <a:off x="4821332" y="2653060"/>
            <a:ext cx="1239249"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Rangement par meuble</a:t>
            </a:r>
            <a:endParaRPr lang="en-US" sz="1200" dirty="0"/>
          </a:p>
        </p:txBody>
      </p:sp>
      <p:sp>
        <p:nvSpPr>
          <p:cNvPr id="23" name="Text 21"/>
          <p:cNvSpPr/>
          <p:nvPr/>
        </p:nvSpPr>
        <p:spPr>
          <a:xfrm>
            <a:off x="10133600" y="2653060"/>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Photo de facture</a:t>
            </a:r>
            <a:endParaRPr lang="en-US" sz="1200" dirty="0"/>
          </a:p>
        </p:txBody>
      </p:sp>
      <p:sp>
        <p:nvSpPr>
          <p:cNvPr id="24" name="Text 22"/>
          <p:cNvSpPr/>
          <p:nvPr/>
        </p:nvSpPr>
        <p:spPr>
          <a:xfrm>
            <a:off x="812774" y="3274572"/>
            <a:ext cx="1320791" cy="57710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E2A2B"/>
                </a:solidFill>
                <a:latin typeface="Public Sans" pitchFamily="34" charset="0"/>
                <a:ea typeface="Public Sans" pitchFamily="34" charset="-122"/>
                <a:cs typeface="Public Sans" pitchFamily="34" charset="-120"/>
              </a:rPr>
              <a:t>Release 3 premium</a:t>
            </a:r>
            <a:endParaRPr lang="en-US" sz="1200" dirty="0"/>
          </a:p>
        </p:txBody>
      </p:sp>
      <p:sp>
        <p:nvSpPr>
          <p:cNvPr id="25" name="Text 23"/>
          <p:cNvSpPr/>
          <p:nvPr/>
        </p:nvSpPr>
        <p:spPr>
          <a:xfrm>
            <a:off x="2165270" y="3280922"/>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App installable (PWA)</a:t>
            </a:r>
            <a:endParaRPr lang="en-US" sz="1200" dirty="0"/>
          </a:p>
        </p:txBody>
      </p:sp>
      <p:sp>
        <p:nvSpPr>
          <p:cNvPr id="26" name="Text 24"/>
          <p:cNvSpPr/>
          <p:nvPr/>
        </p:nvSpPr>
        <p:spPr>
          <a:xfrm>
            <a:off x="3493301" y="3280922"/>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Ajout hors ligne</a:t>
            </a:r>
            <a:endParaRPr lang="en-US" sz="1200" dirty="0"/>
          </a:p>
        </p:txBody>
      </p:sp>
      <p:sp>
        <p:nvSpPr>
          <p:cNvPr id="27" name="Text 25"/>
          <p:cNvSpPr/>
          <p:nvPr/>
        </p:nvSpPr>
        <p:spPr>
          <a:xfrm>
            <a:off x="7477466" y="3280922"/>
            <a:ext cx="1239249"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Stats du dressing</a:t>
            </a:r>
            <a:endParaRPr lang="en-US" sz="1200" dirty="0"/>
          </a:p>
        </p:txBody>
      </p:sp>
      <p:sp>
        <p:nvSpPr>
          <p:cNvPr id="28" name="Text 26"/>
          <p:cNvSpPr/>
          <p:nvPr/>
        </p:nvSpPr>
        <p:spPr>
          <a:xfrm>
            <a:off x="8805569" y="3280922"/>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Plus de 2 membres</a:t>
            </a:r>
            <a:endParaRPr lang="en-US" sz="1200" dirty="0"/>
          </a:p>
        </p:txBody>
      </p:sp>
      <p:sp>
        <p:nvSpPr>
          <p:cNvPr id="29" name="Text 27"/>
          <p:cNvSpPr/>
          <p:nvPr/>
        </p:nvSpPr>
        <p:spPr>
          <a:xfrm>
            <a:off x="10133600" y="3280922"/>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Paiement réel, export PDF</a:t>
            </a:r>
            <a:endParaRPr lang="en-US" sz="1200" dirty="0"/>
          </a:p>
        </p:txBody>
      </p:sp>
      <p:sp>
        <p:nvSpPr>
          <p:cNvPr id="30" name="Text 28"/>
          <p:cNvSpPr/>
          <p:nvPr/>
        </p:nvSpPr>
        <p:spPr>
          <a:xfrm>
            <a:off x="812774" y="3902428"/>
            <a:ext cx="1320791" cy="577104"/>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E2A2B"/>
                </a:solidFill>
                <a:latin typeface="Public Sans" pitchFamily="34" charset="0"/>
                <a:ea typeface="Public Sans" pitchFamily="34" charset="-122"/>
                <a:cs typeface="Public Sans" pitchFamily="34" charset="-120"/>
              </a:rPr>
              <a:t>Release 4 partenaires</a:t>
            </a:r>
            <a:endParaRPr lang="en-US" sz="1200" dirty="0"/>
          </a:p>
        </p:txBody>
      </p:sp>
      <p:sp>
        <p:nvSpPr>
          <p:cNvPr id="31" name="Text 29"/>
          <p:cNvSpPr/>
          <p:nvPr/>
        </p:nvSpPr>
        <p:spPr>
          <a:xfrm>
            <a:off x="2165270" y="3908778"/>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Inscription via assureur</a:t>
            </a:r>
            <a:endParaRPr lang="en-US" sz="1200" dirty="0"/>
          </a:p>
        </p:txBody>
      </p:sp>
      <p:sp>
        <p:nvSpPr>
          <p:cNvPr id="32" name="Text 30"/>
          <p:cNvSpPr/>
          <p:nvPr/>
        </p:nvSpPr>
        <p:spPr>
          <a:xfrm>
            <a:off x="3493301" y="3908778"/>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Suggestion par IA</a:t>
            </a:r>
            <a:endParaRPr lang="en-US" sz="1200" dirty="0"/>
          </a:p>
        </p:txBody>
      </p:sp>
      <p:sp>
        <p:nvSpPr>
          <p:cNvPr id="33" name="Text 31"/>
          <p:cNvSpPr/>
          <p:nvPr/>
        </p:nvSpPr>
        <p:spPr>
          <a:xfrm>
            <a:off x="7477466" y="3908778"/>
            <a:ext cx="1239249"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Vente seconde main</a:t>
            </a:r>
            <a:endParaRPr lang="en-US" sz="1200" dirty="0"/>
          </a:p>
        </p:txBody>
      </p:sp>
      <p:sp>
        <p:nvSpPr>
          <p:cNvPr id="34" name="Text 32"/>
          <p:cNvSpPr/>
          <p:nvPr/>
        </p:nvSpPr>
        <p:spPr>
          <a:xfrm>
            <a:off x="10133600" y="3908778"/>
            <a:ext cx="1239176" cy="539004"/>
          </a:xfrm>
          <a:prstGeom prst="roundRect">
            <a:avLst>
              <a:gd name="adj" fmla="val 8247"/>
            </a:avLst>
          </a:prstGeom>
          <a:noFill/>
          <a:ln w="12700">
            <a:solidFill>
              <a:srgbClr val="B0A48E"/>
            </a:solidFill>
            <a:prstDash val="dash"/>
          </a:ln>
        </p:spPr>
        <p:txBody>
          <a:bodyPr wrap="square" lIns="66106" tIns="66106" rIns="15306" bIns="40706" rtlCol="0" anchor="t">
            <a:normAutofit/>
          </a:bodyPr>
          <a:lstStyle/>
          <a:p>
            <a:pPr algn="l" indent="0" marL="0">
              <a:lnSpc>
                <a:spcPts val="1500"/>
              </a:lnSpc>
              <a:buNone/>
            </a:pPr>
            <a:r>
              <a:rPr lang="en-US" sz="1200" dirty="0">
                <a:solidFill>
                  <a:srgbClr val="1E2A2B"/>
                </a:solidFill>
                <a:latin typeface="Public Sans" pitchFamily="34" charset="0"/>
                <a:ea typeface="Public Sans" pitchFamily="34" charset="-122"/>
                <a:cs typeface="Public Sans" pitchFamily="34" charset="-120"/>
              </a:rPr>
              <a:t>Envoi à l’assureur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MODÈLE DE KANO</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Notre différence se joue sur la vitesse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893867"/>
          <a:ext cx="10557078" cy="2135515"/>
        </p:xfrm>
        <a:graphic>
          <a:graphicData uri="http://schemas.openxmlformats.org/drawingml/2006/table">
            <a:tbl>
              <a:tblPr/>
              <a:tblGrid>
                <a:gridCol w="2322557"/>
                <a:gridCol w="8234521"/>
              </a:tblGrid>
              <a:tr h="355919">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Catégorie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Fonctionnalités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Obligatoire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Ajouter un objet, vues par pièce et par catégorie, recherche, compte, données privées, mobile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Proportionnelle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4AE9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4AE9F"/>
                      </a:solidFill>
                      <a:prstDash val="solid"/>
                      <a:round/>
                      <a:headEnd type="none" w="med" len="med"/>
                      <a:tailEnd type="none" w="med" len="med"/>
                    </a:lnB>
                    <a:solidFill>
                      <a:srgbClr val="F6D9C7"/>
                    </a:solidFill>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Vitesse de saisie (&lt; 10 s), pertinence des doublons, recherche &lt; 200 ms, rejoindre en &lt; 30 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4AE9F"/>
                      </a:solidFill>
                      <a:prstDash val="solid"/>
                      <a:round/>
                      <a:headEnd type="none" w="med" len="med"/>
                      <a:tailEnd type="none" w="med" len="med"/>
                    </a:lnL>
                    <a:lnR w="12700" cap="flat" cmpd="sng" algn="ctr">
                      <a:solidFill>
                        <a:srgbClr val="C4AE9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4AE9F"/>
                      </a:solidFill>
                      <a:prstDash val="solid"/>
                      <a:round/>
                      <a:headEnd type="none" w="med" len="med"/>
                      <a:tailEnd type="none" w="med" len="med"/>
                    </a:lnB>
                    <a:solidFill>
                      <a:srgbClr val="F6D9C7"/>
                    </a:solidFill>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Attractive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4AE9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Statuts du dressing, valeur estimée du foyer, factures et garanties, doublons de l’autre membre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4AE9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Indifférente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Localisation fine (tiroir, étagère), codes-barres, export CSV détaillé</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Rejetée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Plus de 3 champs obligatoires, détourage imposé, prix obligatoire, relances insistantes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bl>
          </a:graphicData>
        </a:graphic>
      </p:graphicFrame>
      <p:sp>
        <p:nvSpPr>
          <p:cNvPr id="5" name="Text 2"/>
          <p:cNvSpPr/>
          <p:nvPr/>
        </p:nvSpPr>
        <p:spPr>
          <a:xfrm>
            <a:off x="812774" y="6238298"/>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Classement établi à partir de la recherche ; à valider par un questionnaire Kano auprès de 20 à 30 personnes.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PRIORISATION MOSCOW</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EADB"/>
                </a:solidFill>
                <a:latin typeface="Oswald" pitchFamily="34" charset="0"/>
                <a:ea typeface="Oswald" pitchFamily="34" charset="-122"/>
                <a:cs typeface="Oswald" pitchFamily="34" charset="-120"/>
              </a:rPr>
              <a:t>Tous les « Must » sont livrés</a:t>
            </a:r>
            <a:endParaRPr lang="en-US" sz="3600" dirty="0"/>
          </a:p>
        </p:txBody>
      </p:sp>
      <p:sp>
        <p:nvSpPr>
          <p:cNvPr id="4" name="Shape 2"/>
          <p:cNvSpPr/>
          <p:nvPr/>
        </p:nvSpPr>
        <p:spPr>
          <a:xfrm>
            <a:off x="812774" y="1935386"/>
            <a:ext cx="2527302" cy="4109809"/>
          </a:xfrm>
          <a:prstGeom prst="roundRect">
            <a:avLst>
              <a:gd name="adj" fmla="val 4020"/>
            </a:avLst>
          </a:prstGeom>
          <a:solidFill>
            <a:srgbClr val="2C3B3C"/>
          </a:solidFill>
          <a:ln/>
        </p:spPr>
      </p:sp>
      <p:sp>
        <p:nvSpPr>
          <p:cNvPr id="5" name="Shape 3"/>
          <p:cNvSpPr/>
          <p:nvPr/>
        </p:nvSpPr>
        <p:spPr>
          <a:xfrm>
            <a:off x="812774" y="1935386"/>
            <a:ext cx="2527302" cy="4109809"/>
          </a:xfrm>
          <a:custGeom>
            <a:avLst/>
            <a:gdLst/>
            <a:ahLst/>
            <a:cxnLst/>
            <a:rect l="l" t="t" r="r" b="b"/>
            <a:pathLst>
              <a:path w="2527302" h="4109809">
                <a:moveTo>
                  <a:pt x="0" y="101600"/>
                </a:moveTo>
                <a:lnTo>
                  <a:pt x="0" y="101600"/>
                </a:lnTo>
                <a:arcTo hR="101600" wR="101600" stAng="10800000" swAng="5400000"/>
                <a:lnTo>
                  <a:pt x="2425702" y="0"/>
                </a:lnTo>
                <a:arcTo hR="101600" wR="101600" stAng="16200000" swAng="5400000"/>
                <a:lnTo>
                  <a:pt x="2527302" y="101600"/>
                </a:lnTo>
                <a:arcTo hR="50800" wR="101600" stAng="0" swAng="-5400000"/>
                <a:lnTo>
                  <a:pt x="101600" y="50800"/>
                </a:lnTo>
                <a:arcTo hR="50800" wR="101600" stAng="16200000" swAng="-5400000"/>
                <a:close/>
              </a:path>
            </a:pathLst>
          </a:custGeom>
          <a:solidFill>
            <a:srgbClr val="E8894F"/>
          </a:solidFill>
          <a:ln/>
        </p:spPr>
      </p:sp>
      <p:sp>
        <p:nvSpPr>
          <p:cNvPr id="6" name="Text 4"/>
          <p:cNvSpPr/>
          <p:nvPr/>
        </p:nvSpPr>
        <p:spPr>
          <a:xfrm>
            <a:off x="1041310" y="2210290"/>
            <a:ext cx="2132337"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Must</a:t>
            </a:r>
            <a:endParaRPr lang="en-US" sz="2200" dirty="0"/>
          </a:p>
        </p:txBody>
      </p:sp>
      <p:sp>
        <p:nvSpPr>
          <p:cNvPr id="7" name="Text 5"/>
          <p:cNvSpPr/>
          <p:nvPr/>
        </p:nvSpPr>
        <p:spPr>
          <a:xfrm>
            <a:off x="1041310" y="2647150"/>
            <a:ext cx="2132337" cy="118112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Compte, ajout rapide et enchaîné, vues, pièces par défaut, doublons, recherche, isolation, mobile</a:t>
            </a:r>
            <a:endParaRPr lang="en-US" sz="1300" dirty="0"/>
          </a:p>
        </p:txBody>
      </p:sp>
      <p:sp>
        <p:nvSpPr>
          <p:cNvPr id="8" name="Text 6"/>
          <p:cNvSpPr/>
          <p:nvPr/>
        </p:nvSpPr>
        <p:spPr>
          <a:xfrm>
            <a:off x="1041310" y="3904462"/>
            <a:ext cx="21323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94F"/>
                </a:solidFill>
                <a:latin typeface="Public Sans" pitchFamily="34" charset="0"/>
                <a:ea typeface="Public Sans" pitchFamily="34" charset="-122"/>
                <a:cs typeface="Public Sans" pitchFamily="34" charset="-120"/>
              </a:rPr>
              <a:t>✅ tout livré</a:t>
            </a:r>
            <a:endParaRPr lang="en-US" sz="1200" dirty="0"/>
          </a:p>
        </p:txBody>
      </p:sp>
      <p:sp>
        <p:nvSpPr>
          <p:cNvPr id="9" name="Shape 7"/>
          <p:cNvSpPr/>
          <p:nvPr/>
        </p:nvSpPr>
        <p:spPr>
          <a:xfrm>
            <a:off x="3492457" y="1935386"/>
            <a:ext cx="2527302" cy="4109809"/>
          </a:xfrm>
          <a:prstGeom prst="roundRect">
            <a:avLst>
              <a:gd name="adj" fmla="val 4020"/>
            </a:avLst>
          </a:prstGeom>
          <a:solidFill>
            <a:srgbClr val="2C3B3C"/>
          </a:solidFill>
          <a:ln/>
        </p:spPr>
      </p:sp>
      <p:sp>
        <p:nvSpPr>
          <p:cNvPr id="10" name="Shape 8"/>
          <p:cNvSpPr/>
          <p:nvPr/>
        </p:nvSpPr>
        <p:spPr>
          <a:xfrm>
            <a:off x="3492457" y="1935386"/>
            <a:ext cx="2527302" cy="4109809"/>
          </a:xfrm>
          <a:custGeom>
            <a:avLst/>
            <a:gdLst/>
            <a:ahLst/>
            <a:cxnLst/>
            <a:rect l="l" t="t" r="r" b="b"/>
            <a:pathLst>
              <a:path w="2527302" h="4109809">
                <a:moveTo>
                  <a:pt x="0" y="101600"/>
                </a:moveTo>
                <a:lnTo>
                  <a:pt x="0" y="101600"/>
                </a:lnTo>
                <a:arcTo hR="101600" wR="101600" stAng="10800000" swAng="5400000"/>
                <a:lnTo>
                  <a:pt x="2425702" y="0"/>
                </a:lnTo>
                <a:arcTo hR="101600" wR="101600" stAng="16200000" swAng="5400000"/>
                <a:lnTo>
                  <a:pt x="2527302" y="101600"/>
                </a:lnTo>
                <a:arcTo hR="50800" wR="101600" stAng="0" swAng="-5400000"/>
                <a:lnTo>
                  <a:pt x="101600" y="50800"/>
                </a:lnTo>
                <a:arcTo hR="50800" wR="101600" stAng="16200000" swAng="-5400000"/>
                <a:close/>
              </a:path>
            </a:pathLst>
          </a:custGeom>
          <a:solidFill>
            <a:srgbClr val="E8894F"/>
          </a:solidFill>
          <a:ln/>
        </p:spPr>
      </p:sp>
      <p:sp>
        <p:nvSpPr>
          <p:cNvPr id="11" name="Text 9"/>
          <p:cNvSpPr/>
          <p:nvPr/>
        </p:nvSpPr>
        <p:spPr>
          <a:xfrm>
            <a:off x="3720994" y="2210290"/>
            <a:ext cx="2132337"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Should</a:t>
            </a:r>
            <a:endParaRPr lang="en-US" sz="2200" dirty="0"/>
          </a:p>
        </p:txBody>
      </p:sp>
      <p:sp>
        <p:nvSpPr>
          <p:cNvPr id="12" name="Text 10"/>
          <p:cNvSpPr/>
          <p:nvPr/>
        </p:nvSpPr>
        <p:spPr>
          <a:xfrm>
            <a:off x="3720994" y="2647150"/>
            <a:ext cx="2132337"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Photo, dressing, partage à 2, supprimer un objet, gérer les pièces, modifier un objet</a:t>
            </a:r>
            <a:endParaRPr lang="en-US" sz="1300" dirty="0"/>
          </a:p>
        </p:txBody>
      </p:sp>
      <p:sp>
        <p:nvSpPr>
          <p:cNvPr id="13" name="Text 11"/>
          <p:cNvSpPr/>
          <p:nvPr/>
        </p:nvSpPr>
        <p:spPr>
          <a:xfrm>
            <a:off x="3720994" y="3673314"/>
            <a:ext cx="21323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94F"/>
                </a:solidFill>
                <a:latin typeface="Public Sans" pitchFamily="34" charset="0"/>
                <a:ea typeface="Public Sans" pitchFamily="34" charset="-122"/>
                <a:cs typeface="Public Sans" pitchFamily="34" charset="-120"/>
              </a:rPr>
              <a:t>✅ sauf modifier</a:t>
            </a:r>
            <a:endParaRPr lang="en-US" sz="1200" dirty="0"/>
          </a:p>
        </p:txBody>
      </p:sp>
      <p:sp>
        <p:nvSpPr>
          <p:cNvPr id="14" name="Shape 12"/>
          <p:cNvSpPr/>
          <p:nvPr/>
        </p:nvSpPr>
        <p:spPr>
          <a:xfrm>
            <a:off x="6172141" y="1935386"/>
            <a:ext cx="2527302" cy="4109809"/>
          </a:xfrm>
          <a:prstGeom prst="roundRect">
            <a:avLst>
              <a:gd name="adj" fmla="val 4020"/>
            </a:avLst>
          </a:prstGeom>
          <a:solidFill>
            <a:srgbClr val="2C3B3C"/>
          </a:solidFill>
          <a:ln/>
        </p:spPr>
      </p:sp>
      <p:sp>
        <p:nvSpPr>
          <p:cNvPr id="15" name="Shape 13"/>
          <p:cNvSpPr/>
          <p:nvPr/>
        </p:nvSpPr>
        <p:spPr>
          <a:xfrm>
            <a:off x="6172141" y="1935386"/>
            <a:ext cx="2527302" cy="4109809"/>
          </a:xfrm>
          <a:custGeom>
            <a:avLst/>
            <a:gdLst/>
            <a:ahLst/>
            <a:cxnLst/>
            <a:rect l="l" t="t" r="r" b="b"/>
            <a:pathLst>
              <a:path w="2527302" h="4109809">
                <a:moveTo>
                  <a:pt x="0" y="101600"/>
                </a:moveTo>
                <a:lnTo>
                  <a:pt x="0" y="101600"/>
                </a:lnTo>
                <a:arcTo hR="101600" wR="101600" stAng="10800000" swAng="5400000"/>
                <a:lnTo>
                  <a:pt x="2425702" y="0"/>
                </a:lnTo>
                <a:arcTo hR="101600" wR="101600" stAng="16200000" swAng="5400000"/>
                <a:lnTo>
                  <a:pt x="2527302" y="101600"/>
                </a:lnTo>
                <a:arcTo hR="50800" wR="101600" stAng="0" swAng="-5400000"/>
                <a:lnTo>
                  <a:pt x="101600" y="50800"/>
                </a:lnTo>
                <a:arcTo hR="50800" wR="101600" stAng="16200000" swAng="-5400000"/>
                <a:close/>
              </a:path>
            </a:pathLst>
          </a:custGeom>
          <a:solidFill>
            <a:srgbClr val="A9B8B5"/>
          </a:solidFill>
          <a:ln/>
        </p:spPr>
      </p:sp>
      <p:sp>
        <p:nvSpPr>
          <p:cNvPr id="16" name="Text 14"/>
          <p:cNvSpPr/>
          <p:nvPr/>
        </p:nvSpPr>
        <p:spPr>
          <a:xfrm>
            <a:off x="6400677" y="2210290"/>
            <a:ext cx="2132337"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Could</a:t>
            </a:r>
            <a:endParaRPr lang="en-US" sz="2200" dirty="0"/>
          </a:p>
        </p:txBody>
      </p:sp>
      <p:sp>
        <p:nvSpPr>
          <p:cNvPr id="17" name="Text 15"/>
          <p:cNvSpPr/>
          <p:nvPr/>
        </p:nvSpPr>
        <p:spPr>
          <a:xfrm>
            <a:off x="6400677" y="2647150"/>
            <a:ext cx="2132337"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Tableau de bord, valeur, compléter plus tard, alerte à 90, desktop, facture, meuble</a:t>
            </a:r>
            <a:endParaRPr lang="en-US" sz="1300" dirty="0"/>
          </a:p>
        </p:txBody>
      </p:sp>
      <p:sp>
        <p:nvSpPr>
          <p:cNvPr id="18" name="Text 16"/>
          <p:cNvSpPr/>
          <p:nvPr/>
        </p:nvSpPr>
        <p:spPr>
          <a:xfrm>
            <a:off x="6400677" y="3673314"/>
            <a:ext cx="21323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8B5"/>
                </a:solidFill>
                <a:latin typeface="Public Sans" pitchFamily="34" charset="0"/>
                <a:ea typeface="Public Sans" pitchFamily="34" charset="-122"/>
                <a:cs typeface="Public Sans" pitchFamily="34" charset="-120"/>
              </a:rPr>
              <a:t>✅ sauf facture et meuble</a:t>
            </a:r>
            <a:endParaRPr lang="en-US" sz="1200" dirty="0"/>
          </a:p>
        </p:txBody>
      </p:sp>
      <p:sp>
        <p:nvSpPr>
          <p:cNvPr id="19" name="Shape 17"/>
          <p:cNvSpPr/>
          <p:nvPr/>
        </p:nvSpPr>
        <p:spPr>
          <a:xfrm>
            <a:off x="8851825" y="1935386"/>
            <a:ext cx="2527374" cy="4109809"/>
          </a:xfrm>
          <a:prstGeom prst="roundRect">
            <a:avLst>
              <a:gd name="adj" fmla="val 4020"/>
            </a:avLst>
          </a:prstGeom>
          <a:solidFill>
            <a:srgbClr val="2C3B3C"/>
          </a:solidFill>
          <a:ln/>
        </p:spPr>
      </p:sp>
      <p:sp>
        <p:nvSpPr>
          <p:cNvPr id="20" name="Shape 18"/>
          <p:cNvSpPr/>
          <p:nvPr/>
        </p:nvSpPr>
        <p:spPr>
          <a:xfrm>
            <a:off x="8851825" y="1935386"/>
            <a:ext cx="2527374" cy="4109809"/>
          </a:xfrm>
          <a:custGeom>
            <a:avLst/>
            <a:gdLst/>
            <a:ahLst/>
            <a:cxnLst/>
            <a:rect l="l" t="t" r="r" b="b"/>
            <a:pathLst>
              <a:path w="2527374" h="4109809">
                <a:moveTo>
                  <a:pt x="0" y="101600"/>
                </a:moveTo>
                <a:lnTo>
                  <a:pt x="0" y="101600"/>
                </a:lnTo>
                <a:arcTo hR="101600" wR="101600" stAng="10800000" swAng="5400000"/>
                <a:lnTo>
                  <a:pt x="2425774" y="0"/>
                </a:lnTo>
                <a:arcTo hR="101600" wR="101600" stAng="16200000" swAng="5400000"/>
                <a:lnTo>
                  <a:pt x="2527374" y="101600"/>
                </a:lnTo>
                <a:arcTo hR="50800" wR="101600" stAng="0" swAng="-5400000"/>
                <a:lnTo>
                  <a:pt x="101600" y="50800"/>
                </a:lnTo>
                <a:arcTo hR="50800" wR="101600" stAng="16200000" swAng="-5400000"/>
                <a:close/>
              </a:path>
            </a:pathLst>
          </a:custGeom>
          <a:solidFill>
            <a:srgbClr val="5D6E6B"/>
          </a:solidFill>
          <a:ln/>
        </p:spPr>
      </p:sp>
      <p:sp>
        <p:nvSpPr>
          <p:cNvPr id="21" name="Text 19"/>
          <p:cNvSpPr/>
          <p:nvPr/>
        </p:nvSpPr>
        <p:spPr>
          <a:xfrm>
            <a:off x="9080360" y="2210290"/>
            <a:ext cx="2132411"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EADB"/>
                </a:solidFill>
                <a:latin typeface="Oswald" pitchFamily="34" charset="0"/>
                <a:ea typeface="Oswald" pitchFamily="34" charset="-122"/>
                <a:cs typeface="Oswald" pitchFamily="34" charset="-120"/>
              </a:rPr>
              <a:t>Won’t (cette fois)</a:t>
            </a:r>
            <a:endParaRPr lang="en-US" sz="2200" dirty="0"/>
          </a:p>
        </p:txBody>
      </p:sp>
      <p:sp>
        <p:nvSpPr>
          <p:cNvPr id="22" name="Text 20"/>
          <p:cNvSpPr/>
          <p:nvPr/>
        </p:nvSpPr>
        <p:spPr>
          <a:xfrm>
            <a:off x="9080360" y="2647150"/>
            <a:ext cx="2132411" cy="9499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Paiement réel, export PDF, stats du dressing, IA, hors ligne, seconde main, stores</a:t>
            </a:r>
            <a:endParaRPr lang="en-US" sz="1300" dirty="0"/>
          </a:p>
        </p:txBody>
      </p:sp>
      <p:sp>
        <p:nvSpPr>
          <p:cNvPr id="23" name="Text 21"/>
          <p:cNvSpPr/>
          <p:nvPr/>
        </p:nvSpPr>
        <p:spPr>
          <a:xfrm>
            <a:off x="9080360" y="3673314"/>
            <a:ext cx="21324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B8B5"/>
                </a:solidFill>
                <a:latin typeface="Public Sans" pitchFamily="34" charset="0"/>
                <a:ea typeface="Public Sans" pitchFamily="34" charset="-122"/>
                <a:cs typeface="Public Sans" pitchFamily="34" charset="-120"/>
              </a:rPr>
              <a:t>Releases 3 et 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69"/>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CONTRAINTES IDENTIFIÉES</a:t>
            </a:r>
            <a:endParaRPr lang="en-US" sz="1200" dirty="0"/>
          </a:p>
        </p:txBody>
      </p:sp>
      <p:sp>
        <p:nvSpPr>
          <p:cNvPr id="3" name="Text 1"/>
          <p:cNvSpPr/>
          <p:nvPr>
            <p:ph type="title"/>
          </p:nvPr>
        </p:nvSpPr>
        <p:spPr>
          <a:xfrm>
            <a:off x="812774" y="1127677"/>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Chaque contrainte a façonné le produit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893860"/>
          <a:ext cx="10557078" cy="2491435"/>
        </p:xfrm>
        <a:graphic>
          <a:graphicData uri="http://schemas.openxmlformats.org/drawingml/2006/table">
            <a:tbl>
              <a:tblPr/>
              <a:tblGrid>
                <a:gridCol w="1689132"/>
                <a:gridCol w="3800548"/>
                <a:gridCol w="5067397"/>
              </a:tblGrid>
              <a:tr h="355919">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Type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Contrainte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Ce qu’on en a fait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Produit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Moins de 10 s par objet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3 champs, ajout enchaîné, le reste plus tard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Produit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Ne jamais bloquer la lecture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Le mur des 100 bloque l’ajout, pas la consultation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Usage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Au téléphone, debout, dans une pièce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Mobile d’abord, boutons ≥ 44 px, « + » central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Technique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Photos de 5 Mo et plus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Compression sur le téléphone (≈ 250 Ko)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RGPD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La liste des biens révèle le patrimoine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Isolation par foyer, bcrypt, JWT, CGU et CGV rédigées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55919">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Projet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2 personnes, calendrier de cours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Spec-kit, MVP resserré, tests automatisés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711188"/>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SOLUTIONS TECHNIQUES</a:t>
            </a:r>
            <a:endParaRPr lang="en-US" sz="1200" dirty="0"/>
          </a:p>
        </p:txBody>
      </p:sp>
      <p:sp>
        <p:nvSpPr>
          <p:cNvPr id="3" name="Text 1"/>
          <p:cNvSpPr/>
          <p:nvPr>
            <p:ph type="title"/>
          </p:nvPr>
        </p:nvSpPr>
        <p:spPr>
          <a:xfrm>
            <a:off x="812774" y="1026096"/>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EADB"/>
                </a:solidFill>
                <a:latin typeface="Oswald" pitchFamily="34" charset="0"/>
                <a:ea typeface="Oswald" pitchFamily="34" charset="-122"/>
                <a:cs typeface="Oswald" pitchFamily="34" charset="-120"/>
              </a:rPr>
              <a:t>Envisagées, puis retenues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741485"/>
          <a:ext cx="10557078" cy="2518100"/>
        </p:xfrm>
        <a:graphic>
          <a:graphicData uri="http://schemas.openxmlformats.org/drawingml/2006/table">
            <a:tbl>
              <a:tblPr/>
              <a:tblGrid>
                <a:gridCol w="1900274"/>
                <a:gridCol w="2955982"/>
                <a:gridCol w="2322557"/>
                <a:gridCol w="3378265"/>
              </a:tblGrid>
              <a:tr h="329254">
                <a:tc>
                  <a:txBody>
                    <a:bodyPr/>
                    <a:lstStyle/>
                    <a:p>
                      <a:pPr indent="0" marL="0">
                        <a:lnSpc>
                          <a:spcPts val="1680"/>
                        </a:lnSpc>
                        <a:buNone/>
                      </a:pPr>
                      <a:r>
                        <a:rPr lang="en-US" sz="1200" b="1" dirty="0">
                          <a:solidFill>
                            <a:srgbClr val="F2EADB"/>
                          </a:solidFill>
                          <a:latin typeface="Public Sans" pitchFamily="34" charset="0"/>
                          <a:ea typeface="Public Sans" pitchFamily="34" charset="-122"/>
                          <a:cs typeface="Public Sans" pitchFamily="34" charset="-120"/>
                        </a:rPr>
                        <a:t>Question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c>
                  <a:txBody>
                    <a:bodyPr/>
                    <a:lstStyle/>
                    <a:p>
                      <a:pPr indent="0" marL="0">
                        <a:lnSpc>
                          <a:spcPts val="1680"/>
                        </a:lnSpc>
                        <a:buNone/>
                      </a:pPr>
                      <a:r>
                        <a:rPr lang="en-US" sz="1200" b="1" dirty="0">
                          <a:solidFill>
                            <a:srgbClr val="F2EADB"/>
                          </a:solidFill>
                          <a:latin typeface="Public Sans" pitchFamily="34" charset="0"/>
                          <a:ea typeface="Public Sans" pitchFamily="34" charset="-122"/>
                          <a:cs typeface="Public Sans" pitchFamily="34" charset="-120"/>
                        </a:rPr>
                        <a:t>Options étudiées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C6564"/>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c>
                  <a:txBody>
                    <a:bodyPr/>
                    <a:lstStyle/>
                    <a:p>
                      <a:pPr indent="0" marL="0">
                        <a:lnSpc>
                          <a:spcPts val="1680"/>
                        </a:lnSpc>
                        <a:buNone/>
                      </a:pPr>
                      <a:r>
                        <a:rPr lang="en-US" sz="1200" b="1" dirty="0">
                          <a:solidFill>
                            <a:srgbClr val="F2EADB"/>
                          </a:solidFill>
                          <a:latin typeface="Public Sans" pitchFamily="34" charset="0"/>
                          <a:ea typeface="Public Sans" pitchFamily="34" charset="-122"/>
                          <a:cs typeface="Public Sans" pitchFamily="34" charset="-120"/>
                        </a:rPr>
                        <a:t>Retenu</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C6564"/>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c>
                  <a:txBody>
                    <a:bodyPr/>
                    <a:lstStyle/>
                    <a:p>
                      <a:pPr indent="0" marL="0">
                        <a:lnSpc>
                          <a:spcPts val="1680"/>
                        </a:lnSpc>
                        <a:buNone/>
                      </a:pPr>
                      <a:r>
                        <a:rPr lang="en-US" sz="1200" b="1" dirty="0">
                          <a:solidFill>
                            <a:srgbClr val="F2EADB"/>
                          </a:solidFill>
                          <a:latin typeface="Public Sans" pitchFamily="34" charset="0"/>
                          <a:ea typeface="Public Sans" pitchFamily="34" charset="-122"/>
                          <a:cs typeface="Public Sans" pitchFamily="34" charset="-120"/>
                        </a:rPr>
                        <a:t>Pourquoi</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C6564"/>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r>
              <a:tr h="54257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Plateforme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React Native / web</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React + Vite responsive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Une base de code, pas de stores pour un MVP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2925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Back-end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Supabase, Firebase / API</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Node, Express, TypeScript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Règles métier maîtrisées, stack connue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2925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Base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PostgreSQL / MongoDB</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MongoDB (Docker, Atlas)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Champs facultatifs nombreux</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2925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Photos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En base / fichiers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Fichiers compressés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Légères, sans détourage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2925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IA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Dès le MVP / plus tard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Plus tard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Souvent fausse chez les concurrents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29254">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Auth et partage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Sessions, rôles / JWT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JWT, code à 6 caractères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indent="0" marL="0">
                        <a:lnSpc>
                          <a:spcPts val="1680"/>
                        </a:lnSpc>
                        <a:buNone/>
                      </a:pPr>
                      <a:r>
                        <a:rPr lang="en-US" sz="1200" dirty="0">
                          <a:solidFill>
                            <a:srgbClr val="F2EADB"/>
                          </a:solidFill>
                          <a:latin typeface="Public Sans" pitchFamily="34" charset="0"/>
                          <a:ea typeface="Public Sans" pitchFamily="34" charset="-122"/>
                          <a:cs typeface="Public Sans" pitchFamily="34" charset="-120"/>
                        </a:rPr>
                        <a:t>Rejoindre un foyer en moins de 30 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MIS EN PLACE · QUALITÉ</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EADB"/>
                </a:solidFill>
                <a:latin typeface="Oswald" pitchFamily="34" charset="0"/>
                <a:ea typeface="Oswald" pitchFamily="34" charset="-122"/>
                <a:cs typeface="Oswald" pitchFamily="34" charset="-120"/>
              </a:rPr>
              <a:t>Un MVP fonctionnel, et vérifié</a:t>
            </a:r>
            <a:endParaRPr lang="en-US" sz="3600" dirty="0"/>
          </a:p>
        </p:txBody>
      </p:sp>
      <p:sp>
        <p:nvSpPr>
          <p:cNvPr id="4" name="Text 2"/>
          <p:cNvSpPr/>
          <p:nvPr/>
        </p:nvSpPr>
        <p:spPr>
          <a:xfrm>
            <a:off x="812774" y="4221615"/>
            <a:ext cx="3418485" cy="1041422"/>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8894F"/>
                </a:solidFill>
                <a:latin typeface="Oswald" pitchFamily="34" charset="0"/>
                <a:ea typeface="Oswald" pitchFamily="34" charset="-122"/>
                <a:cs typeface="Oswald" pitchFamily="34" charset="-120"/>
              </a:rPr>
              <a:t>32</a:t>
            </a:r>
            <a:endParaRPr lang="en-US" sz="8000" dirty="0"/>
          </a:p>
        </p:txBody>
      </p:sp>
      <p:sp>
        <p:nvSpPr>
          <p:cNvPr id="5" name="Text 3"/>
          <p:cNvSpPr/>
          <p:nvPr/>
        </p:nvSpPr>
        <p:spPr>
          <a:xfrm>
            <a:off x="812774" y="5313790"/>
            <a:ext cx="3418485" cy="553627"/>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tests d’API</a:t>
            </a:r>
            <a:endParaRPr lang="en-US" sz="1600" dirty="0"/>
          </a:p>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(Vitest, Supertest)</a:t>
            </a:r>
            <a:endParaRPr lang="en-US" sz="1600" dirty="0"/>
          </a:p>
        </p:txBody>
      </p:sp>
      <p:sp>
        <p:nvSpPr>
          <p:cNvPr id="6" name="Text 4"/>
          <p:cNvSpPr/>
          <p:nvPr/>
        </p:nvSpPr>
        <p:spPr>
          <a:xfrm>
            <a:off x="4436455" y="4221615"/>
            <a:ext cx="3418560" cy="1041422"/>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8894F"/>
                </a:solidFill>
                <a:latin typeface="Oswald" pitchFamily="34" charset="0"/>
                <a:ea typeface="Oswald" pitchFamily="34" charset="-122"/>
                <a:cs typeface="Oswald" pitchFamily="34" charset="-120"/>
              </a:rPr>
              <a:t>35</a:t>
            </a:r>
            <a:endParaRPr lang="en-US" sz="8000" dirty="0"/>
          </a:p>
        </p:txBody>
      </p:sp>
      <p:sp>
        <p:nvSpPr>
          <p:cNvPr id="7" name="Text 5"/>
          <p:cNvSpPr/>
          <p:nvPr/>
        </p:nvSpPr>
        <p:spPr>
          <a:xfrm>
            <a:off x="4436455" y="5313790"/>
            <a:ext cx="3418560" cy="553627"/>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parcours end to end</a:t>
            </a:r>
            <a:endParaRPr lang="en-US" sz="1600" dirty="0"/>
          </a:p>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(Cypress, format mobile)</a:t>
            </a:r>
            <a:endParaRPr lang="en-US" sz="1600" dirty="0"/>
          </a:p>
        </p:txBody>
      </p:sp>
      <p:sp>
        <p:nvSpPr>
          <p:cNvPr id="8" name="Text 6"/>
          <p:cNvSpPr/>
          <p:nvPr/>
        </p:nvSpPr>
        <p:spPr>
          <a:xfrm>
            <a:off x="8060209" y="4221615"/>
            <a:ext cx="3418560" cy="1041422"/>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E8894F"/>
                </a:solidFill>
                <a:latin typeface="Oswald" pitchFamily="34" charset="0"/>
                <a:ea typeface="Oswald" pitchFamily="34" charset="-122"/>
                <a:cs typeface="Oswald" pitchFamily="34" charset="-120"/>
              </a:rPr>
              <a:t>3</a:t>
            </a:r>
            <a:endParaRPr lang="en-US" sz="8000" dirty="0"/>
          </a:p>
        </p:txBody>
      </p:sp>
      <p:sp>
        <p:nvSpPr>
          <p:cNvPr id="9" name="Text 7"/>
          <p:cNvSpPr/>
          <p:nvPr/>
        </p:nvSpPr>
        <p:spPr>
          <a:xfrm>
            <a:off x="8060209" y="5313790"/>
            <a:ext cx="3418560" cy="553627"/>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bugs trouvés par les tests et corrigés, dont une faille de sécurité</a:t>
            </a:r>
            <a:endParaRPr lang="en-US" sz="1600" dirty="0"/>
          </a:p>
        </p:txBody>
      </p:sp>
      <p:sp>
        <p:nvSpPr>
          <p:cNvPr id="10" name="Text 8"/>
          <p:cNvSpPr/>
          <p:nvPr/>
        </p:nvSpPr>
        <p:spPr>
          <a:xfrm>
            <a:off x="812774" y="6238292"/>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B5"/>
                </a:solidFill>
                <a:latin typeface="Public Sans" pitchFamily="34" charset="0"/>
                <a:ea typeface="Public Sans" pitchFamily="34" charset="-122"/>
                <a:cs typeface="Public Sans" pitchFamily="34" charset="-120"/>
              </a:rPr>
              <a:t>Résultats au 30/10 · méthode spec-kit : constitution → spec → plan → tâches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MODÈLE ÉCONOMIQUE</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Freemium, porté par les assureurs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049" y="1944667"/>
          <a:ext cx="5070762" cy="2295070"/>
        </p:xfrm>
        <a:graphic>
          <a:graphicData uri="http://schemas.openxmlformats.org/drawingml/2006/table">
            <a:tbl>
              <a:tblPr/>
              <a:tblGrid>
                <a:gridCol w="2028305"/>
                <a:gridCol w="1521229"/>
                <a:gridCol w="1521229"/>
              </a:tblGrid>
              <a:tr h="382512">
                <a:tc>
                  <a:txBody>
                    <a:bodyPr/>
                    <a:lstStyle/>
                    <a:p>
                      <a:pPr indent="0" marL="0">
                        <a:lnSpc>
                          <a:spcPts val="1960"/>
                        </a:lnSpc>
                        <a:buNone/>
                      </a:pP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960"/>
                        </a:lnSpc>
                        <a:buNone/>
                      </a:pPr>
                      <a:r>
                        <a:rPr lang="en-US" sz="1400" b="1" dirty="0">
                          <a:solidFill>
                            <a:srgbClr val="1E2A2B"/>
                          </a:solidFill>
                          <a:latin typeface="Public Sans" pitchFamily="34" charset="0"/>
                          <a:ea typeface="Public Sans" pitchFamily="34" charset="-122"/>
                          <a:cs typeface="Public Sans" pitchFamily="34" charset="-120"/>
                        </a:rPr>
                        <a:t>Gratuit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c>
                  <a:txBody>
                    <a:bodyPr/>
                    <a:lstStyle/>
                    <a:p>
                      <a:pPr indent="0" marL="0">
                        <a:lnSpc>
                          <a:spcPts val="1960"/>
                        </a:lnSpc>
                        <a:buNone/>
                      </a:pPr>
                      <a:r>
                        <a:rPr lang="en-US" sz="1400" b="1" dirty="0">
                          <a:solidFill>
                            <a:srgbClr val="1E2A2B"/>
                          </a:solidFill>
                          <a:latin typeface="Public Sans" pitchFamily="34" charset="0"/>
                          <a:ea typeface="Public Sans" pitchFamily="34" charset="-122"/>
                          <a:cs typeface="Public Sans" pitchFamily="34" charset="-120"/>
                        </a:rPr>
                        <a:t>Premium</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3AEA3"/>
                      </a:solidFill>
                      <a:prstDash val="solid"/>
                      <a:round/>
                      <a:headEnd type="none" w="med" len="med"/>
                      <a:tailEnd type="none" w="med" len="med"/>
                    </a:lnL>
                    <a:lnR w="12700" cap="flat" cmpd="sng" algn="ctr">
                      <a:solidFill>
                        <a:srgbClr val="B3AEA3"/>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B3AEA3"/>
                      </a:solidFill>
                      <a:prstDash val="solid"/>
                      <a:round/>
                      <a:headEnd type="none" w="med" len="med"/>
                      <a:tailEnd type="none" w="med" len="med"/>
                    </a:lnB>
                    <a:solidFill>
                      <a:srgbClr val="E0D9CB"/>
                    </a:solidFill>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Objets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Illimités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B3AEA3"/>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Membres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Illimités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Export assurance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Non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Oui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Stats du dressing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Non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Oui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r h="382512">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Prix (hypothèse)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0 €</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c>
                  <a:txBody>
                    <a:bodyPr/>
                    <a:lstStyle/>
                    <a:p>
                      <a:pPr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24 € / an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1BBAF"/>
                      </a:solidFill>
                      <a:prstDash val="solid"/>
                      <a:round/>
                      <a:headEnd type="none" w="med" len="med"/>
                      <a:tailEnd type="none" w="med" len="med"/>
                    </a:lnL>
                    <a:lnR w="12700" cap="flat" cmpd="sng" algn="ctr">
                      <a:solidFill>
                        <a:srgbClr val="C1BBAF"/>
                      </a:solidFill>
                      <a:prstDash val="solid"/>
                      <a:round/>
                      <a:headEnd type="none" w="med" len="med"/>
                      <a:tailEnd type="none" w="med" len="med"/>
                    </a:lnR>
                    <a:lnT w="12700" cap="flat" cmpd="sng" algn="ctr">
                      <a:solidFill>
                        <a:srgbClr val="C1BBAF"/>
                      </a:solidFill>
                      <a:prstDash val="solid"/>
                      <a:round/>
                      <a:headEnd type="none" w="med" len="med"/>
                      <a:tailEnd type="none" w="med" len="med"/>
                    </a:lnT>
                    <a:lnB w="12700" cap="flat" cmpd="sng" algn="ctr">
                      <a:solidFill>
                        <a:srgbClr val="C1BBAF"/>
                      </a:solidFill>
                      <a:prstDash val="solid"/>
                      <a:round/>
                      <a:headEnd type="none" w="med" len="med"/>
                      <a:tailEnd type="none" w="med" len="med"/>
                    </a:lnB>
                  </a:tcPr>
                </a:tc>
              </a:tr>
            </a:tbl>
          </a:graphicData>
        </a:graphic>
      </p:graphicFrame>
      <p:sp>
        <p:nvSpPr>
          <p:cNvPr id="5" name="Shape 2"/>
          <p:cNvSpPr/>
          <p:nvPr/>
        </p:nvSpPr>
        <p:spPr>
          <a:xfrm>
            <a:off x="6305512" y="1941742"/>
            <a:ext cx="5067337" cy="2449026"/>
          </a:xfrm>
          <a:prstGeom prst="roundRect">
            <a:avLst>
              <a:gd name="adj" fmla="val 3889"/>
            </a:avLst>
          </a:prstGeom>
          <a:solidFill>
            <a:srgbClr val="FBF6EE"/>
          </a:solidFill>
          <a:ln w="12700">
            <a:solidFill>
              <a:srgbClr val="B8461B"/>
            </a:solidFill>
            <a:prstDash val="solid"/>
          </a:ln>
        </p:spPr>
      </p:sp>
      <p:sp>
        <p:nvSpPr>
          <p:cNvPr id="6" name="Text 3"/>
          <p:cNvSpPr/>
          <p:nvPr/>
        </p:nvSpPr>
        <p:spPr>
          <a:xfrm>
            <a:off x="6613199" y="2249419"/>
            <a:ext cx="4585520" cy="360668"/>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8461B"/>
                </a:solidFill>
                <a:latin typeface="Oswald" pitchFamily="34" charset="0"/>
                <a:ea typeface="Oswald" pitchFamily="34" charset="-122"/>
                <a:cs typeface="Oswald" pitchFamily="34" charset="-120"/>
              </a:rPr>
              <a:t>Le levier : les assureurs habitation</a:t>
            </a:r>
            <a:endParaRPr lang="en-US" sz="2200" dirty="0"/>
          </a:p>
        </p:txBody>
      </p:sp>
      <p:sp>
        <p:nvSpPr>
          <p:cNvPr id="7" name="Text 4"/>
          <p:cNvSpPr/>
          <p:nvPr/>
        </p:nvSpPr>
        <p:spPr>
          <a:xfrm>
            <a:off x="6613199" y="2711642"/>
            <a:ext cx="4585520"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En cas de vol, c’est à l’assuré de prouver ce qu’il possédait. Les applis MAIF et Macif n’ont pas d’inventaire.</a:t>
            </a:r>
            <a:endParaRPr lang="en-US" sz="1400" dirty="0"/>
          </a:p>
        </p:txBody>
      </p:sp>
      <p:sp>
        <p:nvSpPr>
          <p:cNvPr id="8" name="Text 5"/>
          <p:cNvSpPr/>
          <p:nvPr/>
        </p:nvSpPr>
        <p:spPr>
          <a:xfrm>
            <a:off x="6613199" y="3585276"/>
            <a:ext cx="4585520"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A2B"/>
                </a:solidFill>
                <a:latin typeface="Public Sans" pitchFamily="34" charset="0"/>
                <a:ea typeface="Public Sans" pitchFamily="34" charset="-122"/>
                <a:cs typeface="Public Sans" pitchFamily="34" charset="-120"/>
              </a:rPr>
              <a:t>L’assureur offre le premium à ses assurés et paie une licence par foyer.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A2B"/>
        </a:solidFill>
      </p:bgPr>
    </p:bg>
    <p:spTree>
      <p:nvGrpSpPr>
        <p:cNvPr id="1" name=""/>
        <p:cNvGrpSpPr/>
        <p:nvPr/>
      </p:nvGrpSpPr>
      <p:grpSpPr>
        <a:xfrm>
          <a:off x="0" y="0"/>
          <a:ext cx="0" cy="0"/>
          <a:chOff x="0" y="0"/>
          <a:chExt cx="0" cy="0"/>
        </a:xfrm>
      </p:grpSpPr>
      <p:sp>
        <p:nvSpPr>
          <p:cNvPr id="2" name="Text 0"/>
          <p:cNvSpPr/>
          <p:nvPr/>
        </p:nvSpPr>
        <p:spPr>
          <a:xfrm>
            <a:off x="812774" y="1729966"/>
            <a:ext cx="512772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894F"/>
                </a:solidFill>
                <a:latin typeface="Public Sans" pitchFamily="34" charset="0"/>
                <a:ea typeface="Public Sans" pitchFamily="34" charset="-122"/>
                <a:cs typeface="Public Sans" pitchFamily="34" charset="-120"/>
              </a:rPr>
              <a:t>INVESTISSEMENT DEMANDÉ</a:t>
            </a:r>
            <a:endParaRPr lang="en-US" sz="1200" dirty="0"/>
          </a:p>
        </p:txBody>
      </p:sp>
      <p:sp>
        <p:nvSpPr>
          <p:cNvPr id="3" name="Text 1"/>
          <p:cNvSpPr/>
          <p:nvPr/>
        </p:nvSpPr>
        <p:spPr>
          <a:xfrm>
            <a:off x="812774" y="2146461"/>
            <a:ext cx="5127728" cy="1168370"/>
          </a:xfrm>
          <a:prstGeom prst="rect">
            <a:avLst/>
          </a:prstGeom>
          <a:noFill/>
          <a:ln/>
        </p:spPr>
        <p:txBody>
          <a:bodyPr wrap="none" lIns="0" tIns="0" rIns="0" bIns="0" rtlCol="0" anchor="t">
            <a:normAutofit/>
          </a:bodyPr>
          <a:lstStyle/>
          <a:p>
            <a:pPr algn="l" indent="0" marL="0">
              <a:lnSpc>
                <a:spcPts val="9000"/>
              </a:lnSpc>
              <a:buNone/>
            </a:pPr>
            <a:r>
              <a:rPr lang="en-US" sz="9000" b="1" dirty="0">
                <a:solidFill>
                  <a:srgbClr val="F2EADB"/>
                </a:solidFill>
                <a:latin typeface="Oswald" pitchFamily="34" charset="0"/>
                <a:ea typeface="Oswald" pitchFamily="34" charset="-122"/>
                <a:cs typeface="Oswald" pitchFamily="34" charset="-120"/>
              </a:rPr>
              <a:t>115 000 €</a:t>
            </a:r>
            <a:endParaRPr lang="en-US" sz="9000" dirty="0"/>
          </a:p>
        </p:txBody>
      </p:sp>
      <p:sp>
        <p:nvSpPr>
          <p:cNvPr id="4" name="Text 2"/>
          <p:cNvSpPr/>
          <p:nvPr/>
        </p:nvSpPr>
        <p:spPr>
          <a:xfrm>
            <a:off x="812774" y="3492599"/>
            <a:ext cx="5127728" cy="3098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EADB"/>
                </a:solidFill>
                <a:latin typeface="Public Sans" pitchFamily="34" charset="0"/>
                <a:ea typeface="Public Sans" pitchFamily="34" charset="-122"/>
                <a:cs typeface="Public Sans" pitchFamily="34" charset="-120"/>
              </a:rPr>
              <a:t>sur 12 mois, pour :</a:t>
            </a:r>
            <a:endParaRPr lang="en-US" sz="1600" dirty="0"/>
          </a:p>
        </p:txBody>
      </p:sp>
      <p:sp>
        <p:nvSpPr>
          <p:cNvPr id="5" name="Shape 3"/>
          <p:cNvSpPr/>
          <p:nvPr/>
        </p:nvSpPr>
        <p:spPr>
          <a:xfrm>
            <a:off x="831824" y="3980185"/>
            <a:ext cx="0" cy="264114"/>
          </a:xfrm>
          <a:prstGeom prst="line">
            <a:avLst/>
          </a:prstGeom>
          <a:noFill/>
          <a:ln w="38100">
            <a:solidFill>
              <a:srgbClr val="E8894F"/>
            </a:solidFill>
            <a:prstDash val="solid"/>
          </a:ln>
        </p:spPr>
      </p:sp>
      <p:sp>
        <p:nvSpPr>
          <p:cNvPr id="6" name="Text 4"/>
          <p:cNvSpPr/>
          <p:nvPr/>
        </p:nvSpPr>
        <p:spPr>
          <a:xfrm>
            <a:off x="976873" y="3980185"/>
            <a:ext cx="4958706" cy="28951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valider l’usage auprès de vrais foyers</a:t>
            </a:r>
            <a:endParaRPr lang="en-US" sz="1600" dirty="0"/>
          </a:p>
        </p:txBody>
      </p:sp>
      <p:sp>
        <p:nvSpPr>
          <p:cNvPr id="7" name="Shape 5"/>
          <p:cNvSpPr/>
          <p:nvPr/>
        </p:nvSpPr>
        <p:spPr>
          <a:xfrm>
            <a:off x="831824" y="4320443"/>
            <a:ext cx="0" cy="264114"/>
          </a:xfrm>
          <a:prstGeom prst="line">
            <a:avLst/>
          </a:prstGeom>
          <a:noFill/>
          <a:ln w="38100">
            <a:solidFill>
              <a:srgbClr val="E8894F"/>
            </a:solidFill>
            <a:prstDash val="solid"/>
          </a:ln>
        </p:spPr>
      </p:sp>
      <p:sp>
        <p:nvSpPr>
          <p:cNvPr id="8" name="Text 6"/>
          <p:cNvSpPr/>
          <p:nvPr/>
        </p:nvSpPr>
        <p:spPr>
          <a:xfrm>
            <a:off x="976873" y="4320443"/>
            <a:ext cx="4958706" cy="28951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lancer une version publique</a:t>
            </a:r>
            <a:endParaRPr lang="en-US" sz="1600" dirty="0"/>
          </a:p>
        </p:txBody>
      </p:sp>
      <p:sp>
        <p:nvSpPr>
          <p:cNvPr id="9" name="Shape 7"/>
          <p:cNvSpPr/>
          <p:nvPr/>
        </p:nvSpPr>
        <p:spPr>
          <a:xfrm>
            <a:off x="831824" y="4660714"/>
            <a:ext cx="0" cy="264114"/>
          </a:xfrm>
          <a:prstGeom prst="line">
            <a:avLst/>
          </a:prstGeom>
          <a:noFill/>
          <a:ln w="38100">
            <a:solidFill>
              <a:srgbClr val="E8894F"/>
            </a:solidFill>
            <a:prstDash val="solid"/>
          </a:ln>
        </p:spPr>
      </p:sp>
      <p:sp>
        <p:nvSpPr>
          <p:cNvPr id="10" name="Text 8"/>
          <p:cNvSpPr/>
          <p:nvPr/>
        </p:nvSpPr>
        <p:spPr>
          <a:xfrm>
            <a:off x="976873" y="4660714"/>
            <a:ext cx="4958706" cy="28951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ADB"/>
                </a:solidFill>
                <a:latin typeface="Public Sans" pitchFamily="34" charset="0"/>
                <a:ea typeface="Public Sans" pitchFamily="34" charset="-122"/>
                <a:cs typeface="Public Sans" pitchFamily="34" charset="-120"/>
              </a:rPr>
              <a:t>signer un assureur pilote</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10024" y="1552436"/>
          <a:ext cx="4969174" cy="3559192"/>
        </p:xfrm>
        <a:graphic>
          <a:graphicData uri="http://schemas.openxmlformats.org/drawingml/2006/table">
            <a:tbl>
              <a:tblPr/>
              <a:tblGrid>
                <a:gridCol w="3080888"/>
                <a:gridCol w="1888286"/>
              </a:tblGrid>
              <a:tr h="355919">
                <a:tc>
                  <a:txBody>
                    <a:bodyPr/>
                    <a:lstStyle/>
                    <a:p>
                      <a:pPr indent="0" marL="0">
                        <a:lnSpc>
                          <a:spcPts val="1820"/>
                        </a:lnSpc>
                        <a:buNone/>
                      </a:pPr>
                      <a:r>
                        <a:rPr lang="en-US" sz="1300" b="1" dirty="0">
                          <a:solidFill>
                            <a:srgbClr val="F2EADB"/>
                          </a:solidFill>
                          <a:latin typeface="Public Sans" pitchFamily="34" charset="0"/>
                          <a:ea typeface="Public Sans" pitchFamily="34" charset="-122"/>
                          <a:cs typeface="Public Sans" pitchFamily="34" charset="-120"/>
                        </a:rPr>
                        <a:t>Poste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c>
                  <a:txBody>
                    <a:bodyPr/>
                    <a:lstStyle/>
                    <a:p>
                      <a:pPr algn="r" indent="0" marL="0">
                        <a:lnSpc>
                          <a:spcPts val="1820"/>
                        </a:lnSpc>
                        <a:buNone/>
                      </a:pPr>
                      <a:r>
                        <a:rPr lang="en-US" sz="1300" b="1" dirty="0">
                          <a:solidFill>
                            <a:srgbClr val="F2EADB"/>
                          </a:solidFill>
                          <a:latin typeface="Public Sans" pitchFamily="34" charset="0"/>
                          <a:ea typeface="Public Sans" pitchFamily="34" charset="-122"/>
                          <a:cs typeface="Public Sans" pitchFamily="34" charset="-120"/>
                        </a:rPr>
                        <a:t>Montant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5C6564"/>
                      </a:solidFill>
                      <a:prstDash val="solid"/>
                      <a:round/>
                      <a:headEnd type="none" w="med" len="med"/>
                      <a:tailEnd type="none" w="med" len="med"/>
                    </a:lnL>
                    <a:lnR w="12700" cap="flat" cmpd="sng" algn="ctr">
                      <a:solidFill>
                        <a:srgbClr val="5C6564"/>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C6564"/>
                      </a:solidFill>
                      <a:prstDash val="solid"/>
                      <a:round/>
                      <a:headEnd type="none" w="med" len="med"/>
                      <a:tailEnd type="none" w="med" len="med"/>
                    </a:lnB>
                    <a:solidFill>
                      <a:srgbClr val="303B3B"/>
                    </a:solidFill>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Équipe (2 fondateurs, 12 mois)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69 600 €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5C6564"/>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Acquisition (10 000 foyers)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18 000 €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Design UX/UI et tests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7 000 €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Juridique (SAS, RGPD, marque)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3 100 €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Comptabilité</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1 800 €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Hébergement et services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1 500 €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Matériel, assurances, stores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1 920 €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Imprévus (10 %)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10 292 €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4E5857"/>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4E5857"/>
                      </a:solidFill>
                      <a:prstDash val="solid"/>
                      <a:round/>
                      <a:headEnd type="none" w="med" len="med"/>
                      <a:tailEnd type="none" w="med" len="med"/>
                    </a:lnB>
                  </a:tcPr>
                </a:tc>
              </a:tr>
              <a:tr h="355919">
                <a:tc>
                  <a:txBody>
                    <a:bodyPr/>
                    <a:lstStyle/>
                    <a:p>
                      <a:pP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Total, arrondi</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E5857"/>
                      </a:solidFill>
                      <a:prstDash val="solid"/>
                      <a:round/>
                      <a:headEnd type="none" w="med" len="med"/>
                      <a:tailEnd type="none" w="med" len="med"/>
                    </a:lnL>
                    <a:lnR w="12700" cap="flat" cmpd="sng" algn="ctr">
                      <a:solidFill>
                        <a:srgbClr val="596565"/>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96565"/>
                      </a:solidFill>
                      <a:prstDash val="solid"/>
                      <a:round/>
                      <a:headEnd type="none" w="med" len="med"/>
                      <a:tailEnd type="none" w="med" len="med"/>
                    </a:lnB>
                    <a:solidFill>
                      <a:srgbClr val="2C3B3C"/>
                    </a:solidFill>
                  </a:tcPr>
                </a:tc>
                <a:tc>
                  <a:txBody>
                    <a:bodyPr/>
                    <a:lstStyle/>
                    <a:p>
                      <a:pPr algn="r"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115 000 €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596565"/>
                      </a:solidFill>
                      <a:prstDash val="solid"/>
                      <a:round/>
                      <a:headEnd type="none" w="med" len="med"/>
                      <a:tailEnd type="none" w="med" len="med"/>
                    </a:lnL>
                    <a:lnR w="12700" cap="flat" cmpd="sng" algn="ctr">
                      <a:solidFill>
                        <a:srgbClr val="596565"/>
                      </a:solidFill>
                      <a:prstDash val="solid"/>
                      <a:round/>
                      <a:headEnd type="none" w="med" len="med"/>
                      <a:tailEnd type="none" w="med" len="med"/>
                    </a:lnR>
                    <a:lnT w="12700" cap="flat" cmpd="sng" algn="ctr">
                      <a:solidFill>
                        <a:srgbClr val="4E5857"/>
                      </a:solidFill>
                      <a:prstDash val="solid"/>
                      <a:round/>
                      <a:headEnd type="none" w="med" len="med"/>
                      <a:tailEnd type="none" w="med" len="med"/>
                    </a:lnT>
                    <a:lnB w="12700" cap="flat" cmpd="sng" algn="ctr">
                      <a:solidFill>
                        <a:srgbClr val="596565"/>
                      </a:solidFill>
                      <a:prstDash val="solid"/>
                      <a:round/>
                      <a:headEnd type="none" w="med" len="med"/>
                      <a:tailEnd type="none" w="med" len="med"/>
                    </a:lnB>
                    <a:solidFill>
                      <a:srgbClr val="2C3B3C"/>
                    </a:solidFill>
                  </a:tcPr>
                </a:tc>
              </a:tr>
            </a:tbl>
          </a:graphicData>
        </a:graphic>
      </p:graphicFrame>
      <p:sp>
        <p:nvSpPr>
          <p:cNvPr id="12" name="Text 9"/>
          <p:cNvSpPr/>
          <p:nvPr/>
        </p:nvSpPr>
        <p:spPr>
          <a:xfrm>
            <a:off x="812774" y="6238292"/>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B5"/>
                </a:solidFill>
                <a:latin typeface="Public Sans" pitchFamily="34" charset="0"/>
                <a:ea typeface="Public Sans" pitchFamily="34" charset="-122"/>
                <a:cs typeface="Public Sans" pitchFamily="34" charset="-120"/>
              </a:rPr>
              <a:t>Hypothèses de cadrage fondées sur des tarifs publics courants, à confirmer par des devis · détail dans docs/dossier-projet.md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ADB"/>
        </a:solidFill>
      </p:bgPr>
    </p:bg>
    <p:spTree>
      <p:nvGrpSpPr>
        <p:cNvPr id="1" name=""/>
        <p:cNvGrpSpPr/>
        <p:nvPr/>
      </p:nvGrpSpPr>
      <p:grpSpPr>
        <a:xfrm>
          <a:off x="0" y="0"/>
          <a:ext cx="0" cy="0"/>
          <a:chOff x="0" y="0"/>
          <a:chExt cx="0" cy="0"/>
        </a:xfrm>
      </p:grpSpPr>
      <p:sp>
        <p:nvSpPr>
          <p:cNvPr id="2" name="Text 0"/>
          <p:cNvSpPr/>
          <p:nvPr/>
        </p:nvSpPr>
        <p:spPr>
          <a:xfrm>
            <a:off x="812774" y="812775"/>
            <a:ext cx="108834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461B"/>
                </a:solidFill>
                <a:latin typeface="Public Sans" pitchFamily="34" charset="0"/>
                <a:ea typeface="Public Sans" pitchFamily="34" charset="-122"/>
                <a:cs typeface="Public Sans" pitchFamily="34" charset="-120"/>
              </a:rPr>
              <a:t>FINANCEMENT ET MODÈLE DE PARTENARIAT</a:t>
            </a:r>
            <a:endParaRPr lang="en-US" sz="1200" dirty="0"/>
          </a:p>
        </p:txBody>
      </p:sp>
      <p:sp>
        <p:nvSpPr>
          <p:cNvPr id="3" name="Text 1"/>
          <p:cNvSpPr/>
          <p:nvPr>
            <p:ph type="title"/>
          </p:nvPr>
        </p:nvSpPr>
        <p:spPr>
          <a:xfrm>
            <a:off x="812774" y="1127683"/>
            <a:ext cx="10883418" cy="528339"/>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E2A2B"/>
                </a:solidFill>
                <a:latin typeface="Oswald" pitchFamily="34" charset="0"/>
                <a:ea typeface="Oswald" pitchFamily="34" charset="-122"/>
                <a:cs typeface="Oswald" pitchFamily="34" charset="-120"/>
              </a:rPr>
              <a:t>Trois sources, un partenaire clé</a:t>
            </a:r>
            <a:endParaRPr lang="en-US" sz="3600" dirty="0"/>
          </a:p>
        </p:txBody>
      </p:sp>
      <p:sp>
        <p:nvSpPr>
          <p:cNvPr id="4" name="Shape 2"/>
          <p:cNvSpPr/>
          <p:nvPr/>
        </p:nvSpPr>
        <p:spPr>
          <a:xfrm>
            <a:off x="819124" y="1890948"/>
            <a:ext cx="3407806" cy="1423150"/>
          </a:xfrm>
          <a:prstGeom prst="roundRect">
            <a:avLst>
              <a:gd name="adj" fmla="val 6693"/>
            </a:avLst>
          </a:prstGeom>
          <a:solidFill>
            <a:srgbClr val="FBF6EE"/>
          </a:solidFill>
          <a:ln w="12700">
            <a:solidFill>
              <a:srgbClr val="D8CCB6"/>
            </a:solidFill>
            <a:prstDash val="solid"/>
          </a:ln>
        </p:spPr>
      </p:sp>
      <p:sp>
        <p:nvSpPr>
          <p:cNvPr id="5" name="Text 3"/>
          <p:cNvSpPr/>
          <p:nvPr/>
        </p:nvSpPr>
        <p:spPr>
          <a:xfrm>
            <a:off x="1025224" y="2097050"/>
            <a:ext cx="3085473" cy="52326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30 000 €</a:t>
            </a:r>
            <a:endParaRPr lang="en-US" sz="2800" dirty="0"/>
          </a:p>
        </p:txBody>
      </p:sp>
      <p:sp>
        <p:nvSpPr>
          <p:cNvPr id="6" name="Text 4"/>
          <p:cNvSpPr/>
          <p:nvPr/>
        </p:nvSpPr>
        <p:spPr>
          <a:xfrm>
            <a:off x="1025224" y="2645705"/>
            <a:ext cx="3085473"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Prêts d’honneur</a:t>
            </a:r>
            <a:r>
              <a:rPr lang="en-US" sz="1300" dirty="0">
                <a:solidFill>
                  <a:srgbClr val="1E2A2B"/>
                </a:solidFill>
                <a:latin typeface="Public Sans" pitchFamily="34" charset="0"/>
                <a:ea typeface="Public Sans" pitchFamily="34" charset="-122"/>
                <a:cs typeface="Public Sans" pitchFamily="34" charset="-120"/>
              </a:rPr>
              <a:t>, à taux zéro, aux deux fondateurs</a:t>
            </a:r>
            <a:endParaRPr lang="en-US" sz="1300" dirty="0"/>
          </a:p>
        </p:txBody>
      </p:sp>
      <p:sp>
        <p:nvSpPr>
          <p:cNvPr id="7" name="Shape 5"/>
          <p:cNvSpPr/>
          <p:nvPr/>
        </p:nvSpPr>
        <p:spPr>
          <a:xfrm>
            <a:off x="4392011" y="1890948"/>
            <a:ext cx="3407878" cy="1423150"/>
          </a:xfrm>
          <a:prstGeom prst="roundRect">
            <a:avLst>
              <a:gd name="adj" fmla="val 6693"/>
            </a:avLst>
          </a:prstGeom>
          <a:solidFill>
            <a:srgbClr val="FBF6EE"/>
          </a:solidFill>
          <a:ln w="12700">
            <a:solidFill>
              <a:srgbClr val="D8CCB6"/>
            </a:solidFill>
            <a:prstDash val="solid"/>
          </a:ln>
        </p:spPr>
      </p:sp>
      <p:sp>
        <p:nvSpPr>
          <p:cNvPr id="8" name="Text 6"/>
          <p:cNvSpPr/>
          <p:nvPr/>
        </p:nvSpPr>
        <p:spPr>
          <a:xfrm>
            <a:off x="4598112" y="2097050"/>
            <a:ext cx="3085548" cy="52326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30 000 €</a:t>
            </a:r>
            <a:endParaRPr lang="en-US" sz="2800" dirty="0"/>
          </a:p>
        </p:txBody>
      </p:sp>
      <p:sp>
        <p:nvSpPr>
          <p:cNvPr id="9" name="Text 7"/>
          <p:cNvSpPr/>
          <p:nvPr/>
        </p:nvSpPr>
        <p:spPr>
          <a:xfrm>
            <a:off x="4598112" y="2645705"/>
            <a:ext cx="3085548"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Bourse French Tech</a:t>
            </a:r>
            <a:r>
              <a:rPr lang="en-US" sz="1300" dirty="0">
                <a:solidFill>
                  <a:srgbClr val="1E2A2B"/>
                </a:solidFill>
                <a:latin typeface="Public Sans" pitchFamily="34" charset="0"/>
                <a:ea typeface="Public Sans" pitchFamily="34" charset="-122"/>
                <a:cs typeface="Public Sans" pitchFamily="34" charset="-120"/>
              </a:rPr>
              <a:t> (Bpifrance), subvention</a:t>
            </a:r>
            <a:endParaRPr lang="en-US" sz="1300" dirty="0"/>
          </a:p>
        </p:txBody>
      </p:sp>
      <p:sp>
        <p:nvSpPr>
          <p:cNvPr id="10" name="Shape 8"/>
          <p:cNvSpPr/>
          <p:nvPr/>
        </p:nvSpPr>
        <p:spPr>
          <a:xfrm>
            <a:off x="7964971" y="1890948"/>
            <a:ext cx="3407878" cy="1423150"/>
          </a:xfrm>
          <a:prstGeom prst="roundRect">
            <a:avLst>
              <a:gd name="adj" fmla="val 6693"/>
            </a:avLst>
          </a:prstGeom>
          <a:solidFill>
            <a:srgbClr val="FBF6EE"/>
          </a:solidFill>
          <a:ln w="12700">
            <a:solidFill>
              <a:srgbClr val="D8CCB6"/>
            </a:solidFill>
            <a:prstDash val="solid"/>
          </a:ln>
        </p:spPr>
      </p:sp>
      <p:sp>
        <p:nvSpPr>
          <p:cNvPr id="11" name="Text 9"/>
          <p:cNvSpPr/>
          <p:nvPr/>
        </p:nvSpPr>
        <p:spPr>
          <a:xfrm>
            <a:off x="8171071" y="2097050"/>
            <a:ext cx="3085548" cy="52326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8461B"/>
                </a:solidFill>
                <a:latin typeface="Oswald" pitchFamily="34" charset="0"/>
                <a:ea typeface="Oswald" pitchFamily="34" charset="-122"/>
                <a:cs typeface="Oswald" pitchFamily="34" charset="-120"/>
              </a:rPr>
              <a:t>55 000 €</a:t>
            </a:r>
            <a:endParaRPr lang="en-US" sz="2800" dirty="0"/>
          </a:p>
        </p:txBody>
      </p:sp>
      <p:sp>
        <p:nvSpPr>
          <p:cNvPr id="12" name="Text 10"/>
          <p:cNvSpPr/>
          <p:nvPr/>
        </p:nvSpPr>
        <p:spPr>
          <a:xfrm>
            <a:off x="8171071" y="2645705"/>
            <a:ext cx="3085548" cy="4876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A2B"/>
                </a:solidFill>
                <a:latin typeface="Public Sans" pitchFamily="34" charset="0"/>
                <a:ea typeface="Public Sans" pitchFamily="34" charset="-122"/>
                <a:cs typeface="Public Sans" pitchFamily="34" charset="-120"/>
              </a:rPr>
              <a:t>Business angels</a:t>
            </a:r>
            <a:r>
              <a:rPr lang="en-US" sz="1300" dirty="0">
                <a:solidFill>
                  <a:srgbClr val="1E2A2B"/>
                </a:solidFill>
                <a:latin typeface="Public Sans" pitchFamily="34" charset="0"/>
                <a:ea typeface="Public Sans" pitchFamily="34" charset="-122"/>
                <a:cs typeface="Public Sans" pitchFamily="34" charset="-120"/>
              </a:rPr>
              <a:t>, contre environ 11 % du capital</a:t>
            </a:r>
            <a:endParaRPr lang="en-US" sz="1300" dirty="0"/>
          </a:p>
        </p:txBody>
      </p:sp>
      <p:sp>
        <p:nvSpPr>
          <p:cNvPr id="13" name="Shape 11"/>
          <p:cNvSpPr/>
          <p:nvPr/>
        </p:nvSpPr>
        <p:spPr>
          <a:xfrm>
            <a:off x="812774" y="3574417"/>
            <a:ext cx="5130831" cy="1363898"/>
          </a:xfrm>
          <a:prstGeom prst="roundRect">
            <a:avLst>
              <a:gd name="adj" fmla="val 7449"/>
            </a:avLst>
          </a:prstGeom>
          <a:solidFill>
            <a:srgbClr val="1E2A2B"/>
          </a:solidFill>
          <a:ln/>
        </p:spPr>
      </p:sp>
      <p:sp>
        <p:nvSpPr>
          <p:cNvPr id="14" name="Text 12"/>
          <p:cNvSpPr/>
          <p:nvPr/>
        </p:nvSpPr>
        <p:spPr>
          <a:xfrm>
            <a:off x="1015949" y="3777593"/>
            <a:ext cx="486621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894F"/>
                </a:solidFill>
                <a:latin typeface="Public Sans" pitchFamily="34" charset="0"/>
                <a:ea typeface="Public Sans" pitchFamily="34" charset="-122"/>
                <a:cs typeface="Public Sans" pitchFamily="34" charset="-120"/>
              </a:rPr>
              <a:t>Assureurs habitation (B2B2C)</a:t>
            </a:r>
            <a:endParaRPr lang="en-US" sz="1400" dirty="0"/>
          </a:p>
        </p:txBody>
      </p:sp>
      <p:sp>
        <p:nvSpPr>
          <p:cNvPr id="15" name="Text 13"/>
          <p:cNvSpPr/>
          <p:nvPr/>
        </p:nvSpPr>
        <p:spPr>
          <a:xfrm>
            <a:off x="1015949" y="4041701"/>
            <a:ext cx="4866215" cy="71883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ADB"/>
                </a:solidFill>
                <a:latin typeface="Public Sans" pitchFamily="34" charset="0"/>
                <a:ea typeface="Public Sans" pitchFamily="34" charset="-122"/>
                <a:cs typeface="Public Sans" pitchFamily="34" charset="-120"/>
              </a:rPr>
              <a:t>Ils offrent le premium à leurs assurés et paient une licence par foyer (6 € / an, hypothèse). Pilote de 3 mois sur 1 000 à 2 000 assurés.</a:t>
            </a:r>
            <a:endParaRPr lang="en-US" sz="1300" dirty="0"/>
          </a:p>
        </p:txBody>
      </p:sp>
      <p:sp>
        <p:nvSpPr>
          <p:cNvPr id="16" name="Shape 14"/>
          <p:cNvSpPr/>
          <p:nvPr/>
        </p:nvSpPr>
        <p:spPr>
          <a:xfrm>
            <a:off x="6102336" y="3580767"/>
            <a:ext cx="2552716" cy="1351198"/>
          </a:xfrm>
          <a:prstGeom prst="roundRect">
            <a:avLst>
              <a:gd name="adj" fmla="val 7049"/>
            </a:avLst>
          </a:prstGeom>
          <a:noFill/>
          <a:ln w="12700">
            <a:solidFill>
              <a:srgbClr val="1E2A2B"/>
            </a:solidFill>
            <a:prstDash val="solid"/>
          </a:ln>
        </p:spPr>
      </p:sp>
      <p:sp>
        <p:nvSpPr>
          <p:cNvPr id="17" name="Text 15"/>
          <p:cNvSpPr/>
          <p:nvPr/>
        </p:nvSpPr>
        <p:spPr>
          <a:xfrm>
            <a:off x="6308437" y="3786870"/>
            <a:ext cx="22047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A2B"/>
                </a:solidFill>
                <a:latin typeface="Public Sans" pitchFamily="34" charset="0"/>
                <a:ea typeface="Public Sans" pitchFamily="34" charset="-122"/>
                <a:cs typeface="Public Sans" pitchFamily="34" charset="-120"/>
              </a:rPr>
              <a:t>Seconde main</a:t>
            </a:r>
            <a:endParaRPr lang="en-US" sz="1400" dirty="0"/>
          </a:p>
        </p:txBody>
      </p:sp>
      <p:sp>
        <p:nvSpPr>
          <p:cNvPr id="18" name="Text 16"/>
          <p:cNvSpPr/>
          <p:nvPr/>
        </p:nvSpPr>
        <p:spPr>
          <a:xfrm>
            <a:off x="6308437" y="4050978"/>
            <a:ext cx="220473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 Mettre en vente » depuis le dressing, commission</a:t>
            </a:r>
            <a:endParaRPr lang="en-US" sz="1300" dirty="0"/>
          </a:p>
        </p:txBody>
      </p:sp>
      <p:sp>
        <p:nvSpPr>
          <p:cNvPr id="19" name="Shape 17"/>
          <p:cNvSpPr/>
          <p:nvPr/>
        </p:nvSpPr>
        <p:spPr>
          <a:xfrm>
            <a:off x="8820134" y="3580767"/>
            <a:ext cx="2552716" cy="1351198"/>
          </a:xfrm>
          <a:prstGeom prst="roundRect">
            <a:avLst>
              <a:gd name="adj" fmla="val 7049"/>
            </a:avLst>
          </a:prstGeom>
          <a:noFill/>
          <a:ln w="12700">
            <a:solidFill>
              <a:srgbClr val="1E2A2B"/>
            </a:solidFill>
            <a:prstDash val="solid"/>
          </a:ln>
        </p:spPr>
      </p:sp>
      <p:sp>
        <p:nvSpPr>
          <p:cNvPr id="20" name="Text 18"/>
          <p:cNvSpPr/>
          <p:nvPr/>
        </p:nvSpPr>
        <p:spPr>
          <a:xfrm>
            <a:off x="9026234" y="3786870"/>
            <a:ext cx="220473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A2B"/>
                </a:solidFill>
                <a:latin typeface="Public Sans" pitchFamily="34" charset="0"/>
                <a:ea typeface="Public Sans" pitchFamily="34" charset="-122"/>
                <a:cs typeface="Public Sans" pitchFamily="34" charset="-120"/>
              </a:rPr>
              <a:t>Déménageurs</a:t>
            </a:r>
            <a:endParaRPr lang="en-US" sz="1400" dirty="0"/>
          </a:p>
        </p:txBody>
      </p:sp>
      <p:sp>
        <p:nvSpPr>
          <p:cNvPr id="21" name="Text 19"/>
          <p:cNvSpPr/>
          <p:nvPr/>
        </p:nvSpPr>
        <p:spPr>
          <a:xfrm>
            <a:off x="9026234" y="4050978"/>
            <a:ext cx="2204731" cy="48768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2B"/>
                </a:solidFill>
                <a:latin typeface="Public Sans" pitchFamily="34" charset="0"/>
                <a:ea typeface="Public Sans" pitchFamily="34" charset="-122"/>
                <a:cs typeface="Public Sans" pitchFamily="34" charset="-120"/>
              </a:rPr>
              <a:t>Offert à leurs clients : un canal d’acquisition</a:t>
            </a:r>
            <a:endParaRPr lang="en-US" sz="1300" dirty="0"/>
          </a:p>
        </p:txBody>
      </p:sp>
      <p:sp>
        <p:nvSpPr>
          <p:cNvPr id="22" name="Text 20"/>
          <p:cNvSpPr/>
          <p:nvPr/>
        </p:nvSpPr>
        <p:spPr>
          <a:xfrm>
            <a:off x="812774" y="6238304"/>
            <a:ext cx="10883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8"/>
                </a:solidFill>
                <a:latin typeface="Public Sans" pitchFamily="34" charset="0"/>
                <a:ea typeface="Public Sans" pitchFamily="34" charset="-122"/>
                <a:cs typeface="Public Sans" pitchFamily="34" charset="-120"/>
              </a:rPr>
              <a:t>Montants, part de capital et licence : propositions à discuter · conditions des dispositifs publics à vérifier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EADB"/>
        </a:solidFill>
      </p:bgPr>
    </p:bg>
    <p:spTree>
      <p:nvGrpSpPr>
        <p:cNvPr id="1" name=""/>
        <p:cNvGrpSpPr/>
        <p:nvPr/>
      </p:nvGrpSpPr>
      <p:grpSpPr>
        <a:xfrm>
          <a:off x="0" y="0"/>
          <a:ext cx="0" cy="0"/>
          <a:chOff x="0" y="0"/>
          <a:chExt cx="0" cy="0"/>
        </a:xfrm>
      </p:grpSpPr>
      <p:sp>
        <p:nvSpPr>
          <p:cNvPr id="2" name="Shape 0"/>
          <p:cNvSpPr/>
          <p:nvPr/>
        </p:nvSpPr>
        <p:spPr>
          <a:xfrm rot="240000">
            <a:off x="761950" y="609571"/>
            <a:ext cx="2286000" cy="406400"/>
          </a:xfrm>
          <a:prstGeom prst="rect">
            <a:avLst/>
          </a:prstGeom>
          <a:solidFill>
            <a:srgbClr val="B8461B"/>
          </a:solidFill>
          <a:ln/>
        </p:spPr>
      </p:sp>
      <p:sp>
        <p:nvSpPr>
          <p:cNvPr id="3" name="Text 1"/>
          <p:cNvSpPr/>
          <p:nvPr>
            <p:ph type="title"/>
          </p:nvPr>
        </p:nvSpPr>
        <p:spPr>
          <a:xfrm>
            <a:off x="812774" y="2145072"/>
            <a:ext cx="9810719" cy="1953103"/>
          </a:xfrm>
          <a:prstGeom prst="rect">
            <a:avLst/>
          </a:prstGeom>
          <a:noFill/>
          <a:ln/>
        </p:spPr>
        <p:txBody>
          <a:bodyPr wrap="square" lIns="0" tIns="0" rIns="0" bIns="0" rtlCol="0" anchor="t">
            <a:normAutofit/>
          </a:bodyPr>
          <a:lstStyle/>
          <a:p>
            <a:pPr algn="l" indent="0" marL="0">
              <a:lnSpc>
                <a:spcPts val="5060"/>
              </a:lnSpc>
              <a:buNone/>
            </a:pPr>
            <a:r>
              <a:rPr lang="en-US" sz="4400" b="1" i="0" dirty="0">
                <a:solidFill>
                  <a:srgbClr val="1E2A2B"/>
                </a:solidFill>
                <a:latin typeface="Oswald" pitchFamily="34" charset="0"/>
                <a:ea typeface="Oswald" pitchFamily="34" charset="-122"/>
                <a:cs typeface="Oswald" pitchFamily="34" charset="-120"/>
              </a:rPr>
              <a:t>Le jour où on vous demandera ce que vous possédez, vous ne direz plus « je ne sais pas ». </a:t>
            </a:r>
            <a:r>
              <a:rPr lang="en-US" sz="4400" b="1" i="0" dirty="0">
                <a:solidFill>
                  <a:srgbClr val="B8461B"/>
                </a:solidFill>
                <a:latin typeface="Oswald" pitchFamily="34" charset="0"/>
                <a:ea typeface="Oswald" pitchFamily="34" charset="-122"/>
                <a:cs typeface="Oswald" pitchFamily="34" charset="-120"/>
              </a:rPr>
              <a:t>Vous ouvrirez PokeDress.</a:t>
            </a:r>
            <a:endParaRPr lang="en-US" sz="4400" dirty="0"/>
          </a:p>
        </p:txBody>
      </p:sp>
      <p:sp>
        <p:nvSpPr>
          <p:cNvPr id="4" name="Text 2"/>
          <p:cNvSpPr/>
          <p:nvPr/>
        </p:nvSpPr>
        <p:spPr>
          <a:xfrm>
            <a:off x="812774" y="5405090"/>
            <a:ext cx="1552596" cy="665504"/>
          </a:xfrm>
          <a:prstGeom prst="rect">
            <a:avLst/>
          </a:prstGeom>
          <a:noFill/>
          <a:ln/>
        </p:spPr>
        <p:txBody>
          <a:bodyPr wrap="square" lIns="0" tIns="0" rIns="0" bIns="0" rtlCol="0" anchor="t">
            <a:normAutofit/>
          </a:bodyPr>
          <a:lstStyle/>
          <a:p>
            <a:pPr algn="l" indent="0" marL="0">
              <a:lnSpc>
                <a:spcPts val="5040"/>
              </a:lnSpc>
              <a:buNone/>
            </a:pPr>
            <a:r>
              <a:rPr lang="en-US" sz="3600" b="1" spc="200" kern="0" dirty="0">
                <a:solidFill>
                  <a:srgbClr val="1E2A2B"/>
                </a:solidFill>
                <a:latin typeface="Oswald" pitchFamily="34" charset="0"/>
                <a:ea typeface="Oswald" pitchFamily="34" charset="-122"/>
                <a:cs typeface="Oswald" pitchFamily="34" charset="-120"/>
              </a:rPr>
              <a:t>MERCI</a:t>
            </a:r>
            <a:endParaRPr lang="en-US" sz="3600" dirty="0"/>
          </a:p>
        </p:txBody>
      </p:sp>
      <p:sp>
        <p:nvSpPr>
          <p:cNvPr id="5" name="Text 3"/>
          <p:cNvSpPr/>
          <p:nvPr/>
        </p:nvSpPr>
        <p:spPr>
          <a:xfrm>
            <a:off x="8549032" y="5831867"/>
            <a:ext cx="283016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52"/>
                </a:solidFill>
                <a:latin typeface="Public Sans" pitchFamily="34" charset="0"/>
                <a:ea typeface="Public Sans" pitchFamily="34" charset="-122"/>
                <a:cs typeface="Public Sans" pitchFamily="34" charset="-120"/>
              </a:rPr>
              <a:t>Dylan Fernandes · Morgan Bourre</a:t>
            </a:r>
            <a:endParaRPr lang="en-US" sz="1200" dirty="0"/>
          </a:p>
        </p:txBody>
      </p:sp>
    </p:spTree>
  </p:cSld>
  <p:clrMapOvr>
    <a:masterClrMapping/>
  </p:clrMapOvr>
</p:sld>
</file>

<file path=ppt/theme/theme1.xml><?xml version="1.0" encoding="utf-8"?>
<a:theme xmlns:a="http://schemas.openxmlformats.org/drawingml/2006/main" name="PokeDress : dossier projet">
  <a:themeElements>
    <a:clrScheme name="PokeDress : dossier projet">
      <a:dk1>
        <a:srgbClr val="1E2A2B"/>
      </a:dk1>
      <a:lt1>
        <a:srgbClr val="F2EADB"/>
      </a:lt1>
      <a:dk2>
        <a:srgbClr val="535A57"/>
      </a:dk2>
      <a:lt2>
        <a:srgbClr val="DDD7C9"/>
      </a:lt2>
      <a:accent1>
        <a:srgbClr val="B8461B"/>
      </a:accent1>
      <a:accent2>
        <a:srgbClr val="E8894F"/>
      </a:accent2>
      <a:accent3>
        <a:srgbClr val="A9B8B5"/>
      </a:accent3>
      <a:accent4>
        <a:srgbClr val="6B6458"/>
      </a:accent4>
      <a:accent5>
        <a:srgbClr val="4A5552"/>
      </a:accent5>
      <a:accent6>
        <a:srgbClr val="9AA0A6"/>
      </a:accent6>
      <a:hlink>
        <a:srgbClr val="0563C1"/>
      </a:hlink>
      <a:folHlink>
        <a:srgbClr val="954F72"/>
      </a:folHlink>
    </a:clrScheme>
    <a:fontScheme name="PokeDress : dossier proje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PokeDress : dossier projet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2026-10-30T13:43:59Z</dcterms:created>
  <dcterms:modified xsi:type="dcterms:W3CDTF">2026-10-30T13:43:59Z</dcterms:modified>
</cp:coreProperties>
</file>